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image" Target="../media/image-6-30.svg"/><Relationship Id="rId31" Type="http://schemas.openxmlformats.org/officeDocument/2006/relationships/image" Target="../media/image-6-31.png"/><Relationship Id="rId32" Type="http://schemas.openxmlformats.org/officeDocument/2006/relationships/image" Target="../media/image-6-32.svg"/><Relationship Id="rId33" Type="http://schemas.openxmlformats.org/officeDocument/2006/relationships/image" Target="../media/image-6-33.png"/><Relationship Id="rId34" Type="http://schemas.openxmlformats.org/officeDocument/2006/relationships/image" Target="../media/image-6-34.svg"/><Relationship Id="rId35" Type="http://schemas.openxmlformats.org/officeDocument/2006/relationships/image" Target="../media/image-6-35.png"/><Relationship Id="rId36" Type="http://schemas.openxmlformats.org/officeDocument/2006/relationships/image" Target="../media/image-6-36.svg"/><Relationship Id="rId37" Type="http://schemas.openxmlformats.org/officeDocument/2006/relationships/image" Target="../media/image-6-37.png"/><Relationship Id="rId38" Type="http://schemas.openxmlformats.org/officeDocument/2006/relationships/image" Target="../media/image-6-38.svg"/><Relationship Id="rId39" Type="http://schemas.openxmlformats.org/officeDocument/2006/relationships/image" Target="../media/image-6-39.png"/><Relationship Id="rId40" Type="http://schemas.openxmlformats.org/officeDocument/2006/relationships/image" Target="../media/image-6-40.sv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image" Target="../media/image-8-21.png"/><Relationship Id="rId22" Type="http://schemas.openxmlformats.org/officeDocument/2006/relationships/image" Target="../media/image-8-22.svg"/><Relationship Id="rId23" Type="http://schemas.openxmlformats.org/officeDocument/2006/relationships/image" Target="../media/image-8-23.png"/><Relationship Id="rId24" Type="http://schemas.openxmlformats.org/officeDocument/2006/relationships/image" Target="../media/image-8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image" Target="../media/image-9-37.png"/><Relationship Id="rId38" Type="http://schemas.openxmlformats.org/officeDocument/2006/relationships/image" Target="../media/image-9-38.svg"/><Relationship Id="rId39" Type="http://schemas.openxmlformats.org/officeDocument/2006/relationships/image" Target="../media/image-9-39.png"/><Relationship Id="rId40" Type="http://schemas.openxmlformats.org/officeDocument/2006/relationships/image" Target="../media/image-9-40.svg"/><Relationship Id="rId41" Type="http://schemas.openxmlformats.org/officeDocument/2006/relationships/image" Target="../media/image-9-41.png"/><Relationship Id="rId42" Type="http://schemas.openxmlformats.org/officeDocument/2006/relationships/image" Target="../media/image-9-42.svg"/><Relationship Id="rId43" Type="http://schemas.openxmlformats.org/officeDocument/2006/relationships/image" Target="../media/image-9-43.png"/><Relationship Id="rId44" Type="http://schemas.openxmlformats.org/officeDocument/2006/relationships/image" Target="../media/image-9-44.svg"/><Relationship Id="rId45" Type="http://schemas.openxmlformats.org/officeDocument/2006/relationships/image" Target="../media/image-9-45.png"/><Relationship Id="rId46" Type="http://schemas.openxmlformats.org/officeDocument/2006/relationships/image" Target="../media/image-9-46.svg"/><Relationship Id="rId47" Type="http://schemas.openxmlformats.org/officeDocument/2006/relationships/image" Target="../media/image-9-47.png"/><Relationship Id="rId48" Type="http://schemas.openxmlformats.org/officeDocument/2006/relationships/image" Target="../media/image-9-48.svg"/><Relationship Id="rId49" Type="http://schemas.openxmlformats.org/officeDocument/2006/relationships/image" Target="../media/image-9-49.png"/><Relationship Id="rId50" Type="http://schemas.openxmlformats.org/officeDocument/2006/relationships/image" Target="../media/image-9-50.svg"/><Relationship Id="rId51" Type="http://schemas.openxmlformats.org/officeDocument/2006/relationships/image" Target="../media/image-9-51.png"/><Relationship Id="rId52" Type="http://schemas.openxmlformats.org/officeDocument/2006/relationships/image" Target="../media/image-9-52.svg"/><Relationship Id="rId53" Type="http://schemas.openxmlformats.org/officeDocument/2006/relationships/image" Target="../media/image-9-53.png"/><Relationship Id="rId54" Type="http://schemas.openxmlformats.org/officeDocument/2006/relationships/image" Target="../media/image-9-54.svg"/><Relationship Id="rId55" Type="http://schemas.openxmlformats.org/officeDocument/2006/relationships/slideLayout" Target="../slideLayouts/slideLayout1.xml"/><Relationship Id="rId5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B2D">
                  <a:alpha val="97000"/>
                </a:srgbClr>
              </a:gs>
              <a:gs pos="50000">
                <a:srgbClr val="0F1B2D">
                  <a:alpha val="94000"/>
                </a:srgbClr>
              </a:gs>
              <a:gs pos="85000">
                <a:srgbClr val="0F1B2D">
                  <a:alpha val="65000"/>
                </a:srgbClr>
              </a:gs>
              <a:gs pos="100000">
                <a:srgbClr val="0F1B2D">
                  <a:alpha val="45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E8912D"/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71500" y="1715691"/>
            <a:ext cx="70991" cy="70991"/>
          </a:xfrm>
          <a:prstGeom prst="ellipse">
            <a:avLst/>
          </a:prstGeom>
          <a:solidFill>
            <a:srgbClr val="E8912D"/>
          </a:solidFill>
          <a:ln/>
          <a:effectLst>
            <a:outerShdw sx="100000" sy="100000" kx="0" ky="0" algn="bl" rotWithShape="0" blurRad="114300" dist="50800" dir="16200000">
              <a:srgbClr val="e8912d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28811" y="1694111"/>
            <a:ext cx="32431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WORKFORCE ACTIVATION PROTOCOL</a:t>
            </a:r>
            <a:endParaRPr lang="en-US" sz="790" dirty="0"/>
          </a:p>
        </p:txBody>
      </p:sp>
      <p:sp>
        <p:nvSpPr>
          <p:cNvPr id="7" name="Text 4"/>
          <p:cNvSpPr/>
          <p:nvPr/>
        </p:nvSpPr>
        <p:spPr>
          <a:xfrm>
            <a:off x="571500" y="2037011"/>
            <a:ext cx="457200" cy="35421"/>
          </a:xfrm>
          <a:prstGeom prst="roundRect">
            <a:avLst>
              <a:gd name="adj" fmla="val 60953"/>
            </a:avLst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1500" y="2273052"/>
            <a:ext cx="9326880" cy="1133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53"/>
              </a:lnSpc>
              <a:spcAft>
                <a:spcPts val="450"/>
              </a:spcAft>
              <a:buNone/>
            </a:pPr>
            <a:r>
              <a:rPr lang="en-US" sz="4050" spc="34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SURGE HIRING</a:t>
            </a:r>
            <a:br/>
            <a:pPr algn="l" indent="0" marL="0">
              <a:lnSpc>
                <a:spcPts val="4253"/>
              </a:lnSpc>
              <a:spcAft>
                <a:spcPts val="450"/>
              </a:spcAft>
              <a:buNone/>
            </a:pPr>
            <a:r>
              <a:rPr lang="en-US" sz="4050" spc="34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PLAYBOOK</a:t>
            </a:r>
            <a:endParaRPr lang="en-US" sz="4050" dirty="0"/>
          </a:p>
        </p:txBody>
      </p:sp>
      <p:sp>
        <p:nvSpPr>
          <p:cNvPr id="9" name="Text 6"/>
          <p:cNvSpPr/>
          <p:nvPr/>
        </p:nvSpPr>
        <p:spPr>
          <a:xfrm>
            <a:off x="571500" y="3553569"/>
            <a:ext cx="43719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spcBef>
                <a:spcPts val="1130"/>
              </a:spcBef>
              <a:buNone/>
            </a:pPr>
            <a:r>
              <a:rPr lang="en-US" sz="1240" spc="8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– RAPID WORKFORCE ACTIVATION PROTOCOL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00398" y="4135189"/>
            <a:ext cx="440984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spcBef>
                <a:spcPts val="1580"/>
              </a:spcBef>
              <a:buNone/>
            </a:pPr>
            <a:r>
              <a:rPr lang="en-US" sz="1580" b="1" spc="6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Trigger to Deployment in 72 Hours</a:t>
            </a:r>
            <a:endParaRPr lang="en-US" sz="158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500" y="4183195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" y="5657850"/>
            <a:ext cx="32473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spc="8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VERSION 1.0  |  PREPARED BY KELLY</a:t>
            </a:r>
            <a:endParaRPr lang="en-US" sz="790" dirty="0"/>
          </a:p>
        </p:txBody>
      </p:sp>
      <p:sp>
        <p:nvSpPr>
          <p:cNvPr id="13" name="Text 9"/>
          <p:cNvSpPr/>
          <p:nvPr/>
        </p:nvSpPr>
        <p:spPr>
          <a:xfrm>
            <a:off x="8961537" y="5667375"/>
            <a:ext cx="82936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8632627" y="1952997"/>
            <a:ext cx="13841" cy="42922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E8912D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4314" y="2496517"/>
            <a:ext cx="150465" cy="1504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32627" y="2761283"/>
            <a:ext cx="13841" cy="429220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E8912D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575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01241"/>
            <a:ext cx="880567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0"/>
              </a:lnSpc>
              <a:spcAft>
                <a:spcPts val="450"/>
              </a:spcAft>
              <a:buNone/>
            </a:pPr>
            <a:r>
              <a:rPr lang="en-US" sz="2140" spc="11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PURPOSE &amp; SCOPE — REMOTE WORKFORCE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57200" y="772716"/>
            <a:ext cx="8015895" cy="55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playbook establishes a </a:t>
            </a:r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compliance-ready framework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rapidly scaling a </a:t>
            </a:r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contract workforce — covering </a:t>
            </a:r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equipment logistics, virtual onboarding, home workspace verification,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ts val="1392"/>
              </a:lnSpc>
              <a:buNone/>
            </a:pPr>
            <a:r>
              <a:rPr lang="en-US" sz="9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security compliance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four critical activation contexts.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457200" y="1460153"/>
            <a:ext cx="4064645" cy="1618506"/>
          </a:xfrm>
          <a:prstGeom prst="roundRect">
            <a:avLst>
              <a:gd name="adj" fmla="val 5336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460153"/>
            <a:ext cx="28575" cy="1618506"/>
          </a:xfrm>
          <a:custGeom>
            <a:avLst/>
            <a:gdLst/>
            <a:ahLst/>
            <a:cxnLst/>
            <a:rect l="l" t="t" r="r" b="b"/>
            <a:pathLst>
              <a:path w="28575" h="1618506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596325"/>
                </a:lnTo>
                <a:lnTo>
                  <a:pt x="25003" y="1592919"/>
                </a:lnTo>
                <a:lnTo>
                  <a:pt x="21431" y="1589087"/>
                </a:lnTo>
                <a:lnTo>
                  <a:pt x="17859" y="1584736"/>
                </a:lnTo>
                <a:lnTo>
                  <a:pt x="14288" y="1579723"/>
                </a:lnTo>
                <a:lnTo>
                  <a:pt x="10716" y="1573811"/>
                </a:lnTo>
                <a:lnTo>
                  <a:pt x="7144" y="1566538"/>
                </a:lnTo>
                <a:lnTo>
                  <a:pt x="3572" y="1556726"/>
                </a:lnTo>
                <a:lnTo>
                  <a:pt x="0" y="15321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7225" y="1631603"/>
            <a:ext cx="342900" cy="34290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381" y="1736759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8266" y="1731913"/>
            <a:ext cx="35443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spcBef>
                <a:spcPts val="790"/>
              </a:spcBef>
              <a:spcAft>
                <a:spcPts val="790"/>
              </a:spcAft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DISASTER DECLARATIONS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1128266" y="1946523"/>
            <a:ext cx="3286571" cy="31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full remote surge protocol within </a:t>
            </a:r>
            <a:pPr algn="l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declaration; deploy equipment kits &amp; VPN credentials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622155" y="1460153"/>
            <a:ext cx="4064645" cy="1618506"/>
          </a:xfrm>
          <a:prstGeom prst="roundRect">
            <a:avLst>
              <a:gd name="adj" fmla="val 5336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22155" y="1460153"/>
            <a:ext cx="28575" cy="1618506"/>
          </a:xfrm>
          <a:custGeom>
            <a:avLst/>
            <a:gdLst/>
            <a:ahLst/>
            <a:cxnLst/>
            <a:rect l="l" t="t" r="r" b="b"/>
            <a:pathLst>
              <a:path w="28575" h="1618506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596325"/>
                </a:lnTo>
                <a:lnTo>
                  <a:pt x="25003" y="1592919"/>
                </a:lnTo>
                <a:lnTo>
                  <a:pt x="21431" y="1589087"/>
                </a:lnTo>
                <a:lnTo>
                  <a:pt x="17859" y="1584736"/>
                </a:lnTo>
                <a:lnTo>
                  <a:pt x="14288" y="1579723"/>
                </a:lnTo>
                <a:lnTo>
                  <a:pt x="10716" y="1573811"/>
                </a:lnTo>
                <a:lnTo>
                  <a:pt x="7144" y="1566538"/>
                </a:lnTo>
                <a:lnTo>
                  <a:pt x="3572" y="1556726"/>
                </a:lnTo>
                <a:lnTo>
                  <a:pt x="0" y="15321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22180" y="1631603"/>
            <a:ext cx="342900" cy="34290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7336" y="1736759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93221" y="1731913"/>
            <a:ext cx="35443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spcBef>
                <a:spcPts val="790"/>
              </a:spcBef>
              <a:spcAft>
                <a:spcPts val="790"/>
              </a:spcAft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TASK ORDER ACTIVATIONS</a:t>
            </a:r>
            <a:endParaRPr lang="en-US" sz="790" dirty="0"/>
          </a:p>
        </p:txBody>
      </p:sp>
      <p:sp>
        <p:nvSpPr>
          <p:cNvPr id="16" name="Text 12"/>
          <p:cNvSpPr/>
          <p:nvPr/>
        </p:nvSpPr>
        <p:spPr>
          <a:xfrm>
            <a:off x="5293221" y="1946523"/>
            <a:ext cx="3286571" cy="31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remote hiring sprints for scope increases </a:t>
            </a:r>
            <a:pPr algn="l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&gt;25%</a:t>
            </a:r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virtual onboarding tracks</a:t>
            </a:r>
            <a:endParaRPr lang="en-US" sz="840" dirty="0"/>
          </a:p>
        </p:txBody>
      </p:sp>
      <p:sp>
        <p:nvSpPr>
          <p:cNvPr id="17" name="Text 13"/>
          <p:cNvSpPr/>
          <p:nvPr/>
        </p:nvSpPr>
        <p:spPr>
          <a:xfrm>
            <a:off x="457200" y="3178969"/>
            <a:ext cx="4064645" cy="1618506"/>
          </a:xfrm>
          <a:prstGeom prst="roundRect">
            <a:avLst>
              <a:gd name="adj" fmla="val 5336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7200" y="3178969"/>
            <a:ext cx="28575" cy="1618506"/>
          </a:xfrm>
          <a:custGeom>
            <a:avLst/>
            <a:gdLst/>
            <a:ahLst/>
            <a:cxnLst/>
            <a:rect l="l" t="t" r="r" b="b"/>
            <a:pathLst>
              <a:path w="28575" h="1618506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596325"/>
                </a:lnTo>
                <a:lnTo>
                  <a:pt x="25003" y="1592919"/>
                </a:lnTo>
                <a:lnTo>
                  <a:pt x="21431" y="1589087"/>
                </a:lnTo>
                <a:lnTo>
                  <a:pt x="17859" y="1584736"/>
                </a:lnTo>
                <a:lnTo>
                  <a:pt x="14288" y="1579723"/>
                </a:lnTo>
                <a:lnTo>
                  <a:pt x="10716" y="1573811"/>
                </a:lnTo>
                <a:lnTo>
                  <a:pt x="7144" y="1566538"/>
                </a:lnTo>
                <a:lnTo>
                  <a:pt x="3572" y="1556726"/>
                </a:lnTo>
                <a:lnTo>
                  <a:pt x="0" y="15321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57225" y="3350419"/>
            <a:ext cx="342900" cy="34290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381" y="3455575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28266" y="3450729"/>
            <a:ext cx="35443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spcBef>
                <a:spcPts val="790"/>
              </a:spcBef>
              <a:spcAft>
                <a:spcPts val="790"/>
              </a:spcAft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STAFFING DIRECTIVES</a:t>
            </a:r>
            <a:endParaRPr lang="en-US" sz="790" dirty="0"/>
          </a:p>
        </p:txBody>
      </p:sp>
      <p:sp>
        <p:nvSpPr>
          <p:cNvPr id="22" name="Text 17"/>
          <p:cNvSpPr/>
          <p:nvPr/>
        </p:nvSpPr>
        <p:spPr>
          <a:xfrm>
            <a:off x="1128266" y="3665339"/>
            <a:ext cx="3286571" cy="31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Expedited remote screening, home workspace verification &amp; </a:t>
            </a:r>
            <a:pPr algn="l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same-week virtual onboarding</a:t>
            </a:r>
            <a:endParaRPr lang="en-US" sz="840" dirty="0"/>
          </a:p>
        </p:txBody>
      </p:sp>
      <p:sp>
        <p:nvSpPr>
          <p:cNvPr id="23" name="Text 18"/>
          <p:cNvSpPr/>
          <p:nvPr/>
        </p:nvSpPr>
        <p:spPr>
          <a:xfrm>
            <a:off x="4622155" y="3178969"/>
            <a:ext cx="4064645" cy="1618506"/>
          </a:xfrm>
          <a:prstGeom prst="roundRect">
            <a:avLst>
              <a:gd name="adj" fmla="val 5336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622155" y="3178969"/>
            <a:ext cx="28575" cy="1618506"/>
          </a:xfrm>
          <a:custGeom>
            <a:avLst/>
            <a:gdLst/>
            <a:ahLst/>
            <a:cxnLst/>
            <a:rect l="l" t="t" r="r" b="b"/>
            <a:pathLst>
              <a:path w="28575" h="1618506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596325"/>
                </a:lnTo>
                <a:lnTo>
                  <a:pt x="25003" y="1592919"/>
                </a:lnTo>
                <a:lnTo>
                  <a:pt x="21431" y="1589087"/>
                </a:lnTo>
                <a:lnTo>
                  <a:pt x="17859" y="1584736"/>
                </a:lnTo>
                <a:lnTo>
                  <a:pt x="14288" y="1579723"/>
                </a:lnTo>
                <a:lnTo>
                  <a:pt x="10716" y="1573811"/>
                </a:lnTo>
                <a:lnTo>
                  <a:pt x="7144" y="1566538"/>
                </a:lnTo>
                <a:lnTo>
                  <a:pt x="3572" y="1556726"/>
                </a:lnTo>
                <a:lnTo>
                  <a:pt x="0" y="15321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822180" y="3350419"/>
            <a:ext cx="342900" cy="34290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27336" y="3455575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93221" y="3450729"/>
            <a:ext cx="35443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spcBef>
                <a:spcPts val="790"/>
              </a:spcBef>
              <a:spcAft>
                <a:spcPts val="790"/>
              </a:spcAft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/ PLANNED SURGES</a:t>
            </a:r>
            <a:endParaRPr lang="en-US" sz="790" dirty="0"/>
          </a:p>
        </p:txBody>
      </p:sp>
      <p:sp>
        <p:nvSpPr>
          <p:cNvPr id="28" name="Text 22"/>
          <p:cNvSpPr/>
          <p:nvPr/>
        </p:nvSpPr>
        <p:spPr>
          <a:xfrm>
            <a:off x="5293221" y="3665339"/>
            <a:ext cx="3286571" cy="31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pipeline refresh </a:t>
            </a:r>
            <a:pPr algn="l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 prior</a:t>
            </a:r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security compliance &amp; equipment pre-staging</a:t>
            </a:r>
            <a:endParaRPr lang="en-US" sz="840" dirty="0"/>
          </a:p>
        </p:txBody>
      </p:sp>
      <p:sp>
        <p:nvSpPr>
          <p:cNvPr id="29" name="Text 23"/>
          <p:cNvSpPr/>
          <p:nvPr/>
        </p:nvSpPr>
        <p:spPr>
          <a:xfrm>
            <a:off x="457200" y="4928890"/>
            <a:ext cx="113337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CATEGORIES:</a:t>
            </a:r>
            <a:endParaRPr lang="en-US" sz="680" dirty="0"/>
          </a:p>
        </p:txBody>
      </p:sp>
      <p:sp>
        <p:nvSpPr>
          <p:cNvPr id="30" name="Text 24"/>
          <p:cNvSpPr/>
          <p:nvPr/>
        </p:nvSpPr>
        <p:spPr>
          <a:xfrm>
            <a:off x="1587698" y="4897785"/>
            <a:ext cx="636240" cy="173206"/>
          </a:xfrm>
          <a:prstGeom prst="roundRect">
            <a:avLst>
              <a:gd name="adj" fmla="val 82855"/>
            </a:avLst>
          </a:prstGeom>
          <a:solidFill>
            <a:srgbClr val="E8912D">
              <a:alpha val="13000"/>
            </a:srgbClr>
          </a:solidFill>
          <a:ln w="9525">
            <a:solidFill>
              <a:srgbClr val="E8912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</a:t>
            </a:r>
            <a:endParaRPr lang="en-US" sz="680" dirty="0"/>
          </a:p>
        </p:txBody>
      </p:sp>
      <p:sp>
        <p:nvSpPr>
          <p:cNvPr id="31" name="Text 25"/>
          <p:cNvSpPr/>
          <p:nvPr/>
        </p:nvSpPr>
        <p:spPr>
          <a:xfrm>
            <a:off x="2294930" y="4897785"/>
            <a:ext cx="1110407" cy="173206"/>
          </a:xfrm>
          <a:prstGeom prst="roundRect">
            <a:avLst>
              <a:gd name="adj" fmla="val 82855"/>
            </a:avLst>
          </a:prstGeom>
          <a:solidFill>
            <a:srgbClr val="E8912D">
              <a:alpha val="13000"/>
            </a:srgbClr>
          </a:solidFill>
          <a:ln w="9525">
            <a:solidFill>
              <a:srgbClr val="E8912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Specialists</a:t>
            </a:r>
            <a:endParaRPr lang="en-US" sz="680" dirty="0"/>
          </a:p>
        </p:txBody>
      </p:sp>
      <p:sp>
        <p:nvSpPr>
          <p:cNvPr id="32" name="Text 26"/>
          <p:cNvSpPr/>
          <p:nvPr/>
        </p:nvSpPr>
        <p:spPr>
          <a:xfrm>
            <a:off x="3476327" y="4897785"/>
            <a:ext cx="1200448" cy="173206"/>
          </a:xfrm>
          <a:prstGeom prst="roundRect">
            <a:avLst>
              <a:gd name="adj" fmla="val 82855"/>
            </a:avLst>
          </a:prstGeom>
          <a:solidFill>
            <a:srgbClr val="E8912D">
              <a:alpha val="13000"/>
            </a:srgbClr>
          </a:solidFill>
          <a:ln w="9525">
            <a:solidFill>
              <a:srgbClr val="E8912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Support</a:t>
            </a:r>
            <a:endParaRPr lang="en-US" sz="680" dirty="0"/>
          </a:p>
        </p:txBody>
      </p:sp>
      <p:sp>
        <p:nvSpPr>
          <p:cNvPr id="33" name="Text 27"/>
          <p:cNvSpPr/>
          <p:nvPr/>
        </p:nvSpPr>
        <p:spPr>
          <a:xfrm>
            <a:off x="4747766" y="4897785"/>
            <a:ext cx="1142554" cy="173206"/>
          </a:xfrm>
          <a:prstGeom prst="roundRect">
            <a:avLst>
              <a:gd name="adj" fmla="val 82855"/>
            </a:avLst>
          </a:prstGeom>
          <a:solidFill>
            <a:srgbClr val="E8912D">
              <a:alpha val="13000"/>
            </a:srgbClr>
          </a:solidFill>
          <a:ln w="9525">
            <a:solidFill>
              <a:srgbClr val="E8912D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</a:t>
            </a:r>
            <a:endParaRPr lang="en-US" sz="680" dirty="0"/>
          </a:p>
        </p:txBody>
      </p:sp>
      <p:sp>
        <p:nvSpPr>
          <p:cNvPr id="34" name="Text 28"/>
          <p:cNvSpPr/>
          <p:nvPr/>
        </p:nvSpPr>
        <p:spPr>
          <a:xfrm>
            <a:off x="457200" y="5112395"/>
            <a:ext cx="8229600" cy="31105"/>
          </a:xfrm>
          <a:prstGeom prst="roundRect">
            <a:avLst>
              <a:gd name="adj" fmla="val 183733"/>
            </a:avLst>
          </a:prstGeom>
          <a:solidFill>
            <a:srgbClr val="E8912D">
              <a:alpha val="8000"/>
            </a:srgbClr>
          </a:solidFill>
          <a:ln w="9525">
            <a:solidFill>
              <a:srgbClr val="E8912D">
                <a:alpha val="2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881955" y="5208240"/>
            <a:ext cx="6138374" cy="250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OPM Talent Surge guidance, distributed workforce best practices, and FEMA principles: </a:t>
            </a:r>
            <a:endParaRPr lang="en-US" sz="730" dirty="0"/>
          </a:p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Prepare · </a:t>
            </a:r>
            <a:endParaRPr lang="en-US" sz="730" dirty="0"/>
          </a:p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Respond · </a:t>
            </a:r>
            <a:endParaRPr lang="en-US" sz="730" dirty="0"/>
          </a:p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Recover · </a:t>
            </a:r>
            <a:endParaRPr lang="en-US" sz="730" dirty="0"/>
          </a:p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Mitigate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" y="424755"/>
            <a:ext cx="150465" cy="150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836" y="342900"/>
            <a:ext cx="35781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40"/>
              </a:lnSpc>
              <a:buNone/>
            </a:pPr>
            <a:r>
              <a:rPr lang="en-US" sz="2140" spc="11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ACTIVATION TRIGGERS</a:t>
            </a:r>
            <a:endParaRPr lang="en-US" sz="2140" dirty="0"/>
          </a:p>
        </p:txBody>
      </p:sp>
      <p:sp>
        <p:nvSpPr>
          <p:cNvPr id="4" name="Text 1"/>
          <p:cNvSpPr/>
          <p:nvPr/>
        </p:nvSpPr>
        <p:spPr>
          <a:xfrm>
            <a:off x="685800" y="770186"/>
            <a:ext cx="342900" cy="21580"/>
          </a:xfrm>
          <a:prstGeom prst="roundRect">
            <a:avLst>
              <a:gd name="adj" fmla="val 64736"/>
            </a:avLst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143000" y="714375"/>
            <a:ext cx="495487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scenarios that initiate the Surge Hiring Protocol — know the trigger, know the action.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00050" y="1076325"/>
            <a:ext cx="2705100" cy="1980605"/>
          </a:xfrm>
          <a:prstGeom prst="roundRect">
            <a:avLst>
              <a:gd name="adj" fmla="val 4360"/>
            </a:avLst>
          </a:prstGeom>
          <a:solidFill>
            <a:srgbClr val="1A2940"/>
          </a:solidFill>
          <a:ln w="9525">
            <a:solidFill>
              <a:srgbClr val="E8912D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7716" y="1229320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E8912D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663" y="1331268"/>
            <a:ext cx="139005" cy="1390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0926" y="1358801"/>
            <a:ext cx="588466" cy="141774"/>
          </a:xfrm>
          <a:prstGeom prst="roundRect">
            <a:avLst>
              <a:gd name="adj" fmla="val 20603"/>
            </a:avLst>
          </a:prstGeom>
          <a:solidFill>
            <a:srgbClr val="E8912D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1</a:t>
            </a:r>
            <a:endParaRPr lang="en-US" sz="560" dirty="0"/>
          </a:p>
        </p:txBody>
      </p:sp>
      <p:sp>
        <p:nvSpPr>
          <p:cNvPr id="10" name="Text 6"/>
          <p:cNvSpPr/>
          <p:nvPr/>
        </p:nvSpPr>
        <p:spPr>
          <a:xfrm>
            <a:off x="537716" y="1749772"/>
            <a:ext cx="2672745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2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Disaster Declaration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537716" y="2676971"/>
            <a:ext cx="267274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Activate full surge protocol within </a:t>
            </a:r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730" dirty="0"/>
          </a:p>
        </p:txBody>
      </p:sp>
      <p:sp>
        <p:nvSpPr>
          <p:cNvPr id="12" name="Text 8"/>
          <p:cNvSpPr/>
          <p:nvPr/>
        </p:nvSpPr>
        <p:spPr>
          <a:xfrm>
            <a:off x="3219450" y="1076325"/>
            <a:ext cx="2705100" cy="1980605"/>
          </a:xfrm>
          <a:prstGeom prst="roundRect">
            <a:avLst>
              <a:gd name="adj" fmla="val 4360"/>
            </a:avLst>
          </a:prstGeom>
          <a:solidFill>
            <a:srgbClr val="1A2940"/>
          </a:solidFill>
          <a:ln w="9525">
            <a:solidFill>
              <a:srgbClr val="E8912D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357116" y="1229320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9063" y="1331268"/>
            <a:ext cx="139005" cy="1390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00326" y="1358801"/>
            <a:ext cx="588466" cy="141774"/>
          </a:xfrm>
          <a:prstGeom prst="roundRect">
            <a:avLst>
              <a:gd name="adj" fmla="val 20603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2</a:t>
            </a:r>
            <a:endParaRPr lang="en-US" sz="560" dirty="0"/>
          </a:p>
        </p:txBody>
      </p:sp>
      <p:sp>
        <p:nvSpPr>
          <p:cNvPr id="16" name="Text 11"/>
          <p:cNvSpPr/>
          <p:nvPr/>
        </p:nvSpPr>
        <p:spPr>
          <a:xfrm>
            <a:off x="3357116" y="1749772"/>
            <a:ext cx="2672745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2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Order Modification (&gt;25% Scope Increase)</a:t>
            </a:r>
            <a:endParaRPr lang="en-US" sz="840" dirty="0"/>
          </a:p>
        </p:txBody>
      </p:sp>
      <p:sp>
        <p:nvSpPr>
          <p:cNvPr id="17" name="Text 12"/>
          <p:cNvSpPr/>
          <p:nvPr/>
        </p:nvSpPr>
        <p:spPr>
          <a:xfrm>
            <a:off x="3357116" y="2676971"/>
            <a:ext cx="267274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Initiate </a:t>
            </a:r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hiring sprint</a:t>
            </a:r>
            <a:endParaRPr lang="en-US" sz="730" dirty="0"/>
          </a:p>
        </p:txBody>
      </p:sp>
      <p:sp>
        <p:nvSpPr>
          <p:cNvPr id="18" name="Text 13"/>
          <p:cNvSpPr/>
          <p:nvPr/>
        </p:nvSpPr>
        <p:spPr>
          <a:xfrm>
            <a:off x="6038850" y="1076325"/>
            <a:ext cx="2705100" cy="1980605"/>
          </a:xfrm>
          <a:prstGeom prst="roundRect">
            <a:avLst>
              <a:gd name="adj" fmla="val 4360"/>
            </a:avLst>
          </a:prstGeom>
          <a:solidFill>
            <a:srgbClr val="1A2940"/>
          </a:solidFill>
          <a:ln w="9525">
            <a:solidFill>
              <a:srgbClr val="E8912D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176516" y="1229320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78463" y="1331268"/>
            <a:ext cx="139005" cy="1390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19726" y="1358801"/>
            <a:ext cx="588466" cy="141774"/>
          </a:xfrm>
          <a:prstGeom prst="roundRect">
            <a:avLst>
              <a:gd name="adj" fmla="val 20603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3</a:t>
            </a:r>
            <a:endParaRPr lang="en-US" sz="560" dirty="0"/>
          </a:p>
        </p:txBody>
      </p:sp>
      <p:sp>
        <p:nvSpPr>
          <p:cNvPr id="22" name="Text 16"/>
          <p:cNvSpPr/>
          <p:nvPr/>
        </p:nvSpPr>
        <p:spPr>
          <a:xfrm>
            <a:off x="6176516" y="1749772"/>
            <a:ext cx="2672745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2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Shortfall Alert (Vacancy &gt;15%)</a:t>
            </a:r>
            <a:endParaRPr lang="en-US" sz="840" dirty="0"/>
          </a:p>
        </p:txBody>
      </p:sp>
      <p:sp>
        <p:nvSpPr>
          <p:cNvPr id="23" name="Text 17"/>
          <p:cNvSpPr/>
          <p:nvPr/>
        </p:nvSpPr>
        <p:spPr>
          <a:xfrm>
            <a:off x="6176516" y="2542580"/>
            <a:ext cx="2478363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8"/>
              </a:lnSpc>
              <a:spcBef>
                <a:spcPts val="3752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pPr algn="l" indent="0" marL="0">
              <a:lnSpc>
                <a:spcPts val="1058"/>
              </a:lnSpc>
              <a:spcBef>
                <a:spcPts val="3752"/>
              </a:spcBef>
              <a:spcAft>
                <a:spcPts val="730"/>
              </a:spcAft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 </a:t>
            </a:r>
            <a:pPr algn="l" indent="0" marL="0">
              <a:lnSpc>
                <a:spcPts val="1058"/>
              </a:lnSpc>
              <a:spcBef>
                <a:spcPts val="3752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pre-qualified bench</a:t>
            </a:r>
            <a:pPr algn="l" indent="0" marL="0">
              <a:lnSpc>
                <a:spcPts val="1058"/>
              </a:lnSpc>
              <a:spcBef>
                <a:spcPts val="3752"/>
              </a:spcBef>
              <a:spcAft>
                <a:spcPts val="730"/>
              </a:spcAft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candidates immediately</a:t>
            </a:r>
            <a:endParaRPr lang="en-US" sz="730" dirty="0"/>
          </a:p>
        </p:txBody>
      </p:sp>
      <p:sp>
        <p:nvSpPr>
          <p:cNvPr id="24" name="Text 18"/>
          <p:cNvSpPr/>
          <p:nvPr/>
        </p:nvSpPr>
        <p:spPr>
          <a:xfrm>
            <a:off x="1857375" y="3171230"/>
            <a:ext cx="2657475" cy="1972270"/>
          </a:xfrm>
          <a:prstGeom prst="roundRect">
            <a:avLst>
              <a:gd name="adj" fmla="val 4379"/>
            </a:avLst>
          </a:prstGeom>
          <a:solidFill>
            <a:srgbClr val="1A2940"/>
          </a:solidFill>
          <a:ln w="9525">
            <a:solidFill>
              <a:srgbClr val="E8912D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1995041" y="332422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96988" y="3426172"/>
            <a:ext cx="139005" cy="13900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438251" y="3453705"/>
            <a:ext cx="588466" cy="141774"/>
          </a:xfrm>
          <a:prstGeom prst="roundRect">
            <a:avLst>
              <a:gd name="adj" fmla="val 2060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4</a:t>
            </a:r>
            <a:endParaRPr lang="en-US" sz="560" dirty="0"/>
          </a:p>
        </p:txBody>
      </p:sp>
      <p:sp>
        <p:nvSpPr>
          <p:cNvPr id="28" name="Text 21"/>
          <p:cNvSpPr/>
          <p:nvPr/>
        </p:nvSpPr>
        <p:spPr>
          <a:xfrm>
            <a:off x="1995041" y="3844677"/>
            <a:ext cx="2620357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2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Emergency Request</a:t>
            </a:r>
            <a:endParaRPr lang="en-US" sz="840" dirty="0"/>
          </a:p>
        </p:txBody>
      </p:sp>
      <p:sp>
        <p:nvSpPr>
          <p:cNvPr id="29" name="Text 22"/>
          <p:cNvSpPr/>
          <p:nvPr/>
        </p:nvSpPr>
        <p:spPr>
          <a:xfrm>
            <a:off x="1995041" y="4637484"/>
            <a:ext cx="2429786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8"/>
              </a:lnSpc>
              <a:spcBef>
                <a:spcPts val="3752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pPr algn="l" indent="0" marL="0">
              <a:lnSpc>
                <a:spcPts val="1058"/>
              </a:lnSpc>
              <a:spcBef>
                <a:spcPts val="3752"/>
              </a:spcBef>
              <a:spcAft>
                <a:spcPts val="730"/>
              </a:spcAft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Expedited screening and </a:t>
            </a:r>
            <a:pPr algn="l" indent="0" marL="0">
              <a:lnSpc>
                <a:spcPts val="1058"/>
              </a:lnSpc>
              <a:spcBef>
                <a:spcPts val="3752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same-week onboarding</a:t>
            </a:r>
            <a:endParaRPr lang="en-US" sz="730" dirty="0"/>
          </a:p>
        </p:txBody>
      </p:sp>
      <p:sp>
        <p:nvSpPr>
          <p:cNvPr id="30" name="Text 23"/>
          <p:cNvSpPr/>
          <p:nvPr/>
        </p:nvSpPr>
        <p:spPr>
          <a:xfrm>
            <a:off x="4629150" y="3171230"/>
            <a:ext cx="2657475" cy="1972270"/>
          </a:xfrm>
          <a:prstGeom prst="roundRect">
            <a:avLst>
              <a:gd name="adj" fmla="val 4379"/>
            </a:avLst>
          </a:prstGeom>
          <a:solidFill>
            <a:srgbClr val="1A2940"/>
          </a:solidFill>
          <a:ln w="9525">
            <a:solidFill>
              <a:srgbClr val="E8912D">
                <a:alpha val="8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4766816" y="3324225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68763" y="3426172"/>
            <a:ext cx="139005" cy="13900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10026" y="3453705"/>
            <a:ext cx="588466" cy="141774"/>
          </a:xfrm>
          <a:prstGeom prst="roundRect">
            <a:avLst>
              <a:gd name="adj" fmla="val 20603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5</a:t>
            </a:r>
            <a:endParaRPr lang="en-US" sz="560" dirty="0"/>
          </a:p>
        </p:txBody>
      </p:sp>
      <p:sp>
        <p:nvSpPr>
          <p:cNvPr id="34" name="Text 26"/>
          <p:cNvSpPr/>
          <p:nvPr/>
        </p:nvSpPr>
        <p:spPr>
          <a:xfrm>
            <a:off x="4766816" y="3844677"/>
            <a:ext cx="2620357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2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/ Planned Surge</a:t>
            </a:r>
            <a:endParaRPr lang="en-US" sz="840" dirty="0"/>
          </a:p>
        </p:txBody>
      </p:sp>
      <p:sp>
        <p:nvSpPr>
          <p:cNvPr id="35" name="Text 27"/>
          <p:cNvSpPr/>
          <p:nvPr/>
        </p:nvSpPr>
        <p:spPr>
          <a:xfrm>
            <a:off x="4766816" y="4771876"/>
            <a:ext cx="26203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Begin pipeline refresh </a:t>
            </a:r>
            <a:pPr algn="l" indent="0" marL="0">
              <a:lnSpc>
                <a:spcPts val="1058"/>
              </a:lnSpc>
              <a:spcBef>
                <a:spcPts val="4811"/>
              </a:spcBef>
              <a:spcAft>
                <a:spcPts val="730"/>
              </a:spcAft>
              <a:buNone/>
            </a:pPr>
            <a:r>
              <a:rPr lang="en-US" sz="73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 prior</a:t>
            </a:r>
            <a:endParaRPr lang="en-US" sz="730" dirty="0"/>
          </a:p>
        </p:txBody>
      </p:sp>
      <p:sp>
        <p:nvSpPr>
          <p:cNvPr id="36" name="Text 28"/>
          <p:cNvSpPr/>
          <p:nvPr/>
        </p:nvSpPr>
        <p:spPr>
          <a:xfrm>
            <a:off x="400050" y="5391150"/>
            <a:ext cx="280584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spc="2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trigger activates the 4-Phase Rapid Hiring Workflow</a:t>
            </a:r>
            <a:endParaRPr lang="en-US" sz="680" dirty="0"/>
          </a:p>
        </p:txBody>
      </p:sp>
      <p:sp>
        <p:nvSpPr>
          <p:cNvPr id="37" name="Text 29"/>
          <p:cNvSpPr/>
          <p:nvPr/>
        </p:nvSpPr>
        <p:spPr>
          <a:xfrm>
            <a:off x="7625060" y="5391150"/>
            <a:ext cx="12307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HIRING PLAYBOOK</a:t>
            </a:r>
            <a:endParaRPr lang="en-US" sz="680" dirty="0"/>
          </a:p>
        </p:txBody>
      </p:sp>
      <p:sp>
        <p:nvSpPr>
          <p:cNvPr id="38" name="Text 30"/>
          <p:cNvSpPr/>
          <p:nvPr/>
        </p:nvSpPr>
        <p:spPr>
          <a:xfrm>
            <a:off x="409575" y="1085850"/>
            <a:ext cx="2686050" cy="29170"/>
          </a:xfrm>
          <a:custGeom>
            <a:avLst/>
            <a:gdLst/>
            <a:ahLst/>
            <a:cxnLst/>
            <a:rect l="l" t="t" r="r" b="b"/>
            <a:pathLst>
              <a:path w="2686050" h="29170">
                <a:moveTo>
                  <a:pt x="86360" y="0"/>
                </a:moveTo>
                <a:lnTo>
                  <a:pt x="2599690" y="0"/>
                </a:lnTo>
                <a:lnTo>
                  <a:pt x="2624519" y="3646"/>
                </a:lnTo>
                <a:lnTo>
                  <a:pt x="2634423" y="7293"/>
                </a:lnTo>
                <a:lnTo>
                  <a:pt x="2641758" y="10939"/>
                </a:lnTo>
                <a:lnTo>
                  <a:pt x="2647715" y="14585"/>
                </a:lnTo>
                <a:lnTo>
                  <a:pt x="2652761" y="18231"/>
                </a:lnTo>
                <a:lnTo>
                  <a:pt x="2657136" y="21878"/>
                </a:lnTo>
                <a:lnTo>
                  <a:pt x="2660985" y="25524"/>
                </a:lnTo>
                <a:lnTo>
                  <a:pt x="2664400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3228975" y="1085850"/>
            <a:ext cx="2686050" cy="29170"/>
          </a:xfrm>
          <a:custGeom>
            <a:avLst/>
            <a:gdLst/>
            <a:ahLst/>
            <a:cxnLst/>
            <a:rect l="l" t="t" r="r" b="b"/>
            <a:pathLst>
              <a:path w="2686050" h="29170">
                <a:moveTo>
                  <a:pt x="86360" y="0"/>
                </a:moveTo>
                <a:lnTo>
                  <a:pt x="2599690" y="0"/>
                </a:lnTo>
                <a:lnTo>
                  <a:pt x="2624519" y="3646"/>
                </a:lnTo>
                <a:lnTo>
                  <a:pt x="2634423" y="7293"/>
                </a:lnTo>
                <a:lnTo>
                  <a:pt x="2641758" y="10939"/>
                </a:lnTo>
                <a:lnTo>
                  <a:pt x="2647715" y="14585"/>
                </a:lnTo>
                <a:lnTo>
                  <a:pt x="2652761" y="18231"/>
                </a:lnTo>
                <a:lnTo>
                  <a:pt x="2657136" y="21878"/>
                </a:lnTo>
                <a:lnTo>
                  <a:pt x="2660985" y="25524"/>
                </a:lnTo>
                <a:lnTo>
                  <a:pt x="2664400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6048375" y="1085850"/>
            <a:ext cx="2686050" cy="29170"/>
          </a:xfrm>
          <a:custGeom>
            <a:avLst/>
            <a:gdLst/>
            <a:ahLst/>
            <a:cxnLst/>
            <a:rect l="l" t="t" r="r" b="b"/>
            <a:pathLst>
              <a:path w="2686050" h="29170">
                <a:moveTo>
                  <a:pt x="86360" y="0"/>
                </a:moveTo>
                <a:lnTo>
                  <a:pt x="2599690" y="0"/>
                </a:lnTo>
                <a:lnTo>
                  <a:pt x="2624519" y="3646"/>
                </a:lnTo>
                <a:lnTo>
                  <a:pt x="2634423" y="7293"/>
                </a:lnTo>
                <a:lnTo>
                  <a:pt x="2641758" y="10939"/>
                </a:lnTo>
                <a:lnTo>
                  <a:pt x="2647715" y="14585"/>
                </a:lnTo>
                <a:lnTo>
                  <a:pt x="2652761" y="18231"/>
                </a:lnTo>
                <a:lnTo>
                  <a:pt x="2657136" y="21878"/>
                </a:lnTo>
                <a:lnTo>
                  <a:pt x="2660985" y="25524"/>
                </a:lnTo>
                <a:lnTo>
                  <a:pt x="2664400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1866900" y="3180755"/>
            <a:ext cx="2638425" cy="29170"/>
          </a:xfrm>
          <a:custGeom>
            <a:avLst/>
            <a:gdLst/>
            <a:ahLst/>
            <a:cxnLst/>
            <a:rect l="l" t="t" r="r" b="b"/>
            <a:pathLst>
              <a:path w="2638425" h="29170">
                <a:moveTo>
                  <a:pt x="86360" y="0"/>
                </a:moveTo>
                <a:lnTo>
                  <a:pt x="2552065" y="0"/>
                </a:lnTo>
                <a:lnTo>
                  <a:pt x="2576894" y="3646"/>
                </a:lnTo>
                <a:lnTo>
                  <a:pt x="2586798" y="7293"/>
                </a:lnTo>
                <a:lnTo>
                  <a:pt x="2594133" y="10939"/>
                </a:lnTo>
                <a:lnTo>
                  <a:pt x="2600090" y="14585"/>
                </a:lnTo>
                <a:lnTo>
                  <a:pt x="2605136" y="18231"/>
                </a:lnTo>
                <a:lnTo>
                  <a:pt x="2609511" y="21878"/>
                </a:lnTo>
                <a:lnTo>
                  <a:pt x="2613360" y="25524"/>
                </a:lnTo>
                <a:lnTo>
                  <a:pt x="2616775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4638675" y="3180755"/>
            <a:ext cx="2638425" cy="29170"/>
          </a:xfrm>
          <a:custGeom>
            <a:avLst/>
            <a:gdLst/>
            <a:ahLst/>
            <a:cxnLst/>
            <a:rect l="l" t="t" r="r" b="b"/>
            <a:pathLst>
              <a:path w="2638425" h="29170">
                <a:moveTo>
                  <a:pt x="86360" y="0"/>
                </a:moveTo>
                <a:lnTo>
                  <a:pt x="2552065" y="0"/>
                </a:lnTo>
                <a:lnTo>
                  <a:pt x="2576894" y="3646"/>
                </a:lnTo>
                <a:lnTo>
                  <a:pt x="2586798" y="7293"/>
                </a:lnTo>
                <a:lnTo>
                  <a:pt x="2594133" y="10939"/>
                </a:lnTo>
                <a:lnTo>
                  <a:pt x="2600090" y="14585"/>
                </a:lnTo>
                <a:lnTo>
                  <a:pt x="2605136" y="18231"/>
                </a:lnTo>
                <a:lnTo>
                  <a:pt x="2609511" y="21878"/>
                </a:lnTo>
                <a:lnTo>
                  <a:pt x="2613360" y="25524"/>
                </a:lnTo>
                <a:lnTo>
                  <a:pt x="2616775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920" y="364480"/>
            <a:ext cx="100584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b="1" spc="17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WORKFORCE ACTIVATION — REMOTE OPERATIONS</a:t>
            </a:r>
            <a:endParaRPr lang="en-US" sz="620" dirty="0"/>
          </a:p>
        </p:txBody>
      </p:sp>
      <p:sp>
        <p:nvSpPr>
          <p:cNvPr id="3" name="Text 1"/>
          <p:cNvSpPr/>
          <p:nvPr/>
        </p:nvSpPr>
        <p:spPr>
          <a:xfrm>
            <a:off x="314920" y="528935"/>
            <a:ext cx="97840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0"/>
              </a:lnSpc>
              <a:spcAft>
                <a:spcPts val="230"/>
              </a:spcAft>
              <a:buNone/>
            </a:pPr>
            <a:r>
              <a:rPr lang="en-US" sz="1910" b="1" spc="6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4-PHASE RAPID HIRING WORKFLOW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314920" y="897731"/>
            <a:ext cx="100584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"/>
              </a:lnSpc>
              <a:spcBef>
                <a:spcPts val="730"/>
              </a:spcBef>
              <a:spcAft>
                <a:spcPts val="730"/>
              </a:spcAft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ongoing readiness to full remote deployment — a structured sprint to staff your contract in 72 hours.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486370" y="1355824"/>
            <a:ext cx="865763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E8912D"/>
              </a:gs>
              <a:gs pos="40000">
                <a:srgbClr val="E8912D">
                  <a:alpha val="50000"/>
                </a:srgbClr>
              </a:gs>
              <a:gs pos="70000">
                <a:srgbClr val="E8912D">
                  <a:alpha val="25000"/>
                </a:srgbClr>
              </a:gs>
              <a:gs pos="100000">
                <a:srgbClr val="E8912D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43161" y="1337370"/>
            <a:ext cx="57150" cy="57150"/>
          </a:xfrm>
          <a:prstGeom prst="ellipse">
            <a:avLst/>
          </a:prstGeom>
          <a:solidFill>
            <a:srgbClr val="E8912D"/>
          </a:solidFill>
          <a:ln/>
          <a:effectLst>
            <a:outerShdw sx="100000" sy="100000" kx="0" ky="0" algn="bl" rotWithShape="0" blurRad="71120" dist="50800" dir="16200000">
              <a:srgbClr val="e8912d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15891" y="1337370"/>
            <a:ext cx="57150" cy="57150"/>
          </a:xfrm>
          <a:prstGeom prst="ellipse">
            <a:avLst/>
          </a:prstGeom>
          <a:solidFill>
            <a:srgbClr val="E8912D"/>
          </a:solidFill>
          <a:ln/>
          <a:effectLst>
            <a:outerShdw sx="100000" sy="100000" kx="0" ky="0" algn="bl" rotWithShape="0" blurRad="71120" dist="50800" dir="16200000">
              <a:srgbClr val="e8912d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87280" y="1337370"/>
            <a:ext cx="57150" cy="57150"/>
          </a:xfrm>
          <a:prstGeom prst="ellipse">
            <a:avLst/>
          </a:prstGeom>
          <a:solidFill>
            <a:srgbClr val="E8912D"/>
          </a:solidFill>
          <a:ln/>
          <a:effectLst>
            <a:outerShdw sx="100000" sy="100000" kx="0" ky="0" algn="bl" rotWithShape="0" blurRad="71120" dist="50800" dir="16200000">
              <a:srgbClr val="e8912d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58670" y="1337370"/>
            <a:ext cx="57150" cy="57150"/>
          </a:xfrm>
          <a:prstGeom prst="ellipse">
            <a:avLst/>
          </a:prstGeom>
          <a:solidFill>
            <a:srgbClr val="E8912D"/>
          </a:solidFill>
          <a:ln/>
          <a:effectLst>
            <a:outerShdw sx="100000" sy="100000" kx="0" ky="0" algn="bl" rotWithShape="0" blurRad="71120" dist="50800" dir="16200000">
              <a:srgbClr val="e8912d">
                <a:alpha val="5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4920" y="1567309"/>
            <a:ext cx="2128242" cy="3157686"/>
          </a:xfrm>
          <a:prstGeom prst="roundRect">
            <a:avLst>
              <a:gd name="adj" fmla="val 4058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4920" y="1567309"/>
            <a:ext cx="2128242" cy="28575"/>
          </a:xfrm>
          <a:custGeom>
            <a:avLst/>
            <a:gdLst/>
            <a:ahLst/>
            <a:cxnLst/>
            <a:rect l="l" t="t" r="r" b="b"/>
            <a:pathLst>
              <a:path w="2128242" h="28575">
                <a:moveTo>
                  <a:pt x="86360" y="0"/>
                </a:moveTo>
                <a:lnTo>
                  <a:pt x="61780" y="3572"/>
                </a:lnTo>
                <a:lnTo>
                  <a:pt x="51968" y="7144"/>
                </a:lnTo>
                <a:lnTo>
                  <a:pt x="44695" y="10716"/>
                </a:lnTo>
                <a:lnTo>
                  <a:pt x="38783" y="14288"/>
                </a:lnTo>
                <a:lnTo>
                  <a:pt x="33770" y="17859"/>
                </a:lnTo>
                <a:lnTo>
                  <a:pt x="29419" y="21431"/>
                </a:lnTo>
                <a:lnTo>
                  <a:pt x="25587" y="25003"/>
                </a:lnTo>
                <a:lnTo>
                  <a:pt x="22181" y="28575"/>
                </a:lnTo>
                <a:lnTo>
                  <a:pt x="2106061" y="28575"/>
                </a:lnTo>
                <a:lnTo>
                  <a:pt x="2102655" y="25003"/>
                </a:lnTo>
                <a:lnTo>
                  <a:pt x="2098823" y="21431"/>
                </a:lnTo>
                <a:lnTo>
                  <a:pt x="2094472" y="17859"/>
                </a:lnTo>
                <a:lnTo>
                  <a:pt x="2089460" y="14288"/>
                </a:lnTo>
                <a:lnTo>
                  <a:pt x="2083547" y="10716"/>
                </a:lnTo>
                <a:lnTo>
                  <a:pt x="2076275" y="7144"/>
                </a:lnTo>
                <a:lnTo>
                  <a:pt x="2066462" y="3572"/>
                </a:lnTo>
                <a:lnTo>
                  <a:pt x="2041882" y="0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061" y="1739354"/>
            <a:ext cx="285750" cy="118021"/>
          </a:xfrm>
          <a:prstGeom prst="roundRect">
            <a:avLst>
              <a:gd name="adj" fmla="val 774777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568" y="1732071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43061" y="1928366"/>
            <a:ext cx="639961" cy="358706"/>
          </a:xfrm>
          <a:prstGeom prst="roundRect">
            <a:avLst>
              <a:gd name="adj" fmla="val 40008"/>
            </a:avLst>
          </a:prstGeom>
          <a:solidFill>
            <a:srgbClr val="E8912D"/>
          </a:solidFill>
          <a:ln/>
        </p:spPr>
        <p:txBody>
          <a:bodyPr wrap="none" lIns="86360" tIns="29210" rIns="86360" bIns="29210" rtlCol="0" anchor="t"/>
          <a:lstStyle/>
          <a:p>
            <a:pPr algn="l" indent="0" marL="0">
              <a:buNone/>
            </a:pPr>
            <a:r>
              <a:rPr lang="en-US" sz="730" b="1" spc="80" kern="0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443061" y="2477244"/>
            <a:ext cx="205915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spcBef>
                <a:spcPts val="1130"/>
              </a:spcBef>
              <a:spcAft>
                <a:spcPts val="1130"/>
              </a:spcAft>
              <a:buNone/>
            </a:pPr>
            <a:r>
              <a:rPr lang="en-US" sz="1130" b="1" spc="3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PREPARE</a:t>
            </a:r>
            <a:endParaRPr lang="en-US" sz="1130" dirty="0"/>
          </a:p>
        </p:txBody>
      </p:sp>
      <p:sp>
        <p:nvSpPr>
          <p:cNvPr id="16" name="Text 13"/>
          <p:cNvSpPr/>
          <p:nvPr/>
        </p:nvSpPr>
        <p:spPr>
          <a:xfrm>
            <a:off x="443061" y="2882801"/>
            <a:ext cx="205915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0"/>
              </a:lnSpc>
              <a:spcBef>
                <a:spcPts val="680"/>
              </a:spcBef>
              <a:spcAft>
                <a:spcPts val="680"/>
              </a:spcAft>
              <a:buNone/>
            </a:pPr>
            <a:r>
              <a:rPr lang="en-US" sz="68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/ Pre-Event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600541" y="3164681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pre-vetted bench at min 20% above headcount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0541" y="3502521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clearances current across all labor categories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00541" y="3840361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 remote equipment kits (laptops, peripherals, tokens)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00541" y="4178201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shipping logistics &amp; carrier SLAs for rapid delivery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00541" y="4516041"/>
            <a:ext cx="1748770" cy="2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pipeline readiness drills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2614613" y="1567309"/>
            <a:ext cx="2128242" cy="3157686"/>
          </a:xfrm>
          <a:prstGeom prst="roundRect">
            <a:avLst>
              <a:gd name="adj" fmla="val 4058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614613" y="1567309"/>
            <a:ext cx="2128242" cy="28575"/>
          </a:xfrm>
          <a:custGeom>
            <a:avLst/>
            <a:gdLst/>
            <a:ahLst/>
            <a:cxnLst/>
            <a:rect l="l" t="t" r="r" b="b"/>
            <a:pathLst>
              <a:path w="2128242" h="28575">
                <a:moveTo>
                  <a:pt x="86360" y="0"/>
                </a:moveTo>
                <a:lnTo>
                  <a:pt x="61780" y="3572"/>
                </a:lnTo>
                <a:lnTo>
                  <a:pt x="51968" y="7144"/>
                </a:lnTo>
                <a:lnTo>
                  <a:pt x="44695" y="10716"/>
                </a:lnTo>
                <a:lnTo>
                  <a:pt x="38783" y="14288"/>
                </a:lnTo>
                <a:lnTo>
                  <a:pt x="33770" y="17859"/>
                </a:lnTo>
                <a:lnTo>
                  <a:pt x="29419" y="21431"/>
                </a:lnTo>
                <a:lnTo>
                  <a:pt x="25587" y="25003"/>
                </a:lnTo>
                <a:lnTo>
                  <a:pt x="22181" y="28575"/>
                </a:lnTo>
                <a:lnTo>
                  <a:pt x="2106061" y="28575"/>
                </a:lnTo>
                <a:lnTo>
                  <a:pt x="2102655" y="25003"/>
                </a:lnTo>
                <a:lnTo>
                  <a:pt x="2098823" y="21431"/>
                </a:lnTo>
                <a:lnTo>
                  <a:pt x="2094472" y="17859"/>
                </a:lnTo>
                <a:lnTo>
                  <a:pt x="2089460" y="14288"/>
                </a:lnTo>
                <a:lnTo>
                  <a:pt x="2083547" y="10716"/>
                </a:lnTo>
                <a:lnTo>
                  <a:pt x="2076275" y="7144"/>
                </a:lnTo>
                <a:lnTo>
                  <a:pt x="2066462" y="3572"/>
                </a:lnTo>
                <a:lnTo>
                  <a:pt x="2041882" y="0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742754" y="1739354"/>
            <a:ext cx="285750" cy="118021"/>
          </a:xfrm>
          <a:prstGeom prst="roundRect">
            <a:avLst>
              <a:gd name="adj" fmla="val 774777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9260" y="1732071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42754" y="1928366"/>
            <a:ext cx="639961" cy="358706"/>
          </a:xfrm>
          <a:prstGeom prst="roundRect">
            <a:avLst>
              <a:gd name="adj" fmla="val 40008"/>
            </a:avLst>
          </a:prstGeom>
          <a:solidFill>
            <a:srgbClr val="E8912D"/>
          </a:solidFill>
          <a:ln/>
        </p:spPr>
        <p:txBody>
          <a:bodyPr wrap="none" lIns="86360" tIns="29210" rIns="86360" bIns="29210" rtlCol="0" anchor="t"/>
          <a:lstStyle/>
          <a:p>
            <a:pPr algn="l" indent="0" marL="0">
              <a:buNone/>
            </a:pPr>
            <a:r>
              <a:rPr lang="en-US" sz="730" b="1" spc="80" kern="0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2</a:t>
            </a:r>
            <a:endParaRPr lang="en-US" sz="730" dirty="0"/>
          </a:p>
        </p:txBody>
      </p:sp>
      <p:sp>
        <p:nvSpPr>
          <p:cNvPr id="27" name="Text 23"/>
          <p:cNvSpPr/>
          <p:nvPr/>
        </p:nvSpPr>
        <p:spPr>
          <a:xfrm>
            <a:off x="2742754" y="2477244"/>
            <a:ext cx="205915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spcBef>
                <a:spcPts val="1130"/>
              </a:spcBef>
              <a:spcAft>
                <a:spcPts val="1130"/>
              </a:spcAft>
              <a:buNone/>
            </a:pPr>
            <a:r>
              <a:rPr lang="en-US" sz="1130" b="1" spc="3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ACTIVATE</a:t>
            </a:r>
            <a:endParaRPr lang="en-US" sz="1130" dirty="0"/>
          </a:p>
        </p:txBody>
      </p:sp>
      <p:sp>
        <p:nvSpPr>
          <p:cNvPr id="28" name="Text 24"/>
          <p:cNvSpPr/>
          <p:nvPr/>
        </p:nvSpPr>
        <p:spPr>
          <a:xfrm>
            <a:off x="2742754" y="2882801"/>
            <a:ext cx="205915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0"/>
              </a:lnSpc>
              <a:spcBef>
                <a:spcPts val="680"/>
              </a:spcBef>
              <a:spcAft>
                <a:spcPts val="680"/>
              </a:spcAft>
              <a:buNone/>
            </a:pPr>
            <a:r>
              <a:rPr lang="en-US" sz="68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24 Hours</a:t>
            </a:r>
            <a:endParaRPr lang="en-US" sz="680" dirty="0"/>
          </a:p>
        </p:txBody>
      </p:sp>
      <p:sp>
        <p:nvSpPr>
          <p:cNvPr id="29" name="Text 25"/>
          <p:cNvSpPr/>
          <p:nvPr/>
        </p:nvSpPr>
        <p:spPr>
          <a:xfrm>
            <a:off x="2900233" y="3164681"/>
            <a:ext cx="1748770" cy="21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issues Surge Activation Notice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2900233" y="3373785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pre-qualified candidates by labor category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2900233" y="3711625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remote workspace meets security &amp; ergonomic standards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2900233" y="4049464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VPN credentials &amp; secure access profiles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2900233" y="4387304"/>
            <a:ext cx="1748770" cy="34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compliance review (SCA, EEO/OFCCP)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4914305" y="1567309"/>
            <a:ext cx="2128242" cy="3157686"/>
          </a:xfrm>
          <a:prstGeom prst="roundRect">
            <a:avLst>
              <a:gd name="adj" fmla="val 4058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914305" y="1567309"/>
            <a:ext cx="2128242" cy="28575"/>
          </a:xfrm>
          <a:custGeom>
            <a:avLst/>
            <a:gdLst/>
            <a:ahLst/>
            <a:cxnLst/>
            <a:rect l="l" t="t" r="r" b="b"/>
            <a:pathLst>
              <a:path w="2128242" h="28575">
                <a:moveTo>
                  <a:pt x="86360" y="0"/>
                </a:moveTo>
                <a:lnTo>
                  <a:pt x="61780" y="3572"/>
                </a:lnTo>
                <a:lnTo>
                  <a:pt x="51968" y="7144"/>
                </a:lnTo>
                <a:lnTo>
                  <a:pt x="44695" y="10716"/>
                </a:lnTo>
                <a:lnTo>
                  <a:pt x="38783" y="14288"/>
                </a:lnTo>
                <a:lnTo>
                  <a:pt x="33770" y="17859"/>
                </a:lnTo>
                <a:lnTo>
                  <a:pt x="29419" y="21431"/>
                </a:lnTo>
                <a:lnTo>
                  <a:pt x="25587" y="25003"/>
                </a:lnTo>
                <a:lnTo>
                  <a:pt x="22181" y="28575"/>
                </a:lnTo>
                <a:lnTo>
                  <a:pt x="2106061" y="28575"/>
                </a:lnTo>
                <a:lnTo>
                  <a:pt x="2102655" y="25003"/>
                </a:lnTo>
                <a:lnTo>
                  <a:pt x="2098823" y="21431"/>
                </a:lnTo>
                <a:lnTo>
                  <a:pt x="2094472" y="17859"/>
                </a:lnTo>
                <a:lnTo>
                  <a:pt x="2089460" y="14288"/>
                </a:lnTo>
                <a:lnTo>
                  <a:pt x="2083547" y="10716"/>
                </a:lnTo>
                <a:lnTo>
                  <a:pt x="2076275" y="7144"/>
                </a:lnTo>
                <a:lnTo>
                  <a:pt x="2066462" y="3572"/>
                </a:lnTo>
                <a:lnTo>
                  <a:pt x="2041882" y="0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5042446" y="1739354"/>
            <a:ext cx="285750" cy="127992"/>
          </a:xfrm>
          <a:prstGeom prst="roundRect">
            <a:avLst>
              <a:gd name="adj" fmla="val 714420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8952" y="1736982"/>
            <a:ext cx="132588" cy="132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042446" y="1938337"/>
            <a:ext cx="639961" cy="358706"/>
          </a:xfrm>
          <a:prstGeom prst="roundRect">
            <a:avLst>
              <a:gd name="adj" fmla="val 40008"/>
            </a:avLst>
          </a:prstGeom>
          <a:solidFill>
            <a:srgbClr val="E8912D"/>
          </a:solidFill>
          <a:ln/>
        </p:spPr>
        <p:txBody>
          <a:bodyPr wrap="none" lIns="86360" tIns="29210" rIns="86360" bIns="29210" rtlCol="0" anchor="t"/>
          <a:lstStyle/>
          <a:p>
            <a:pPr algn="l" indent="0" marL="0">
              <a:buNone/>
            </a:pPr>
            <a:r>
              <a:rPr lang="en-US" sz="730" b="1" spc="80" kern="0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3</a:t>
            </a:r>
            <a:endParaRPr lang="en-US" sz="730" dirty="0"/>
          </a:p>
        </p:txBody>
      </p:sp>
      <p:sp>
        <p:nvSpPr>
          <p:cNvPr id="39" name="Text 34"/>
          <p:cNvSpPr/>
          <p:nvPr/>
        </p:nvSpPr>
        <p:spPr>
          <a:xfrm>
            <a:off x="5042446" y="2487216"/>
            <a:ext cx="205915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spcBef>
                <a:spcPts val="1130"/>
              </a:spcBef>
              <a:spcAft>
                <a:spcPts val="1130"/>
              </a:spcAft>
              <a:buNone/>
            </a:pPr>
            <a:r>
              <a:rPr lang="en-US" sz="1130" b="1" spc="3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</a:t>
            </a:r>
            <a:endParaRPr lang="en-US" sz="1130" dirty="0"/>
          </a:p>
        </p:txBody>
      </p:sp>
      <p:sp>
        <p:nvSpPr>
          <p:cNvPr id="40" name="Text 35"/>
          <p:cNvSpPr/>
          <p:nvPr/>
        </p:nvSpPr>
        <p:spPr>
          <a:xfrm>
            <a:off x="5042446" y="2892772"/>
            <a:ext cx="205915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0"/>
              </a:lnSpc>
              <a:spcBef>
                <a:spcPts val="680"/>
              </a:spcBef>
              <a:spcAft>
                <a:spcPts val="680"/>
              </a:spcAft>
              <a:buNone/>
            </a:pPr>
            <a:r>
              <a:rPr lang="en-US" sz="68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– 72 Hours</a:t>
            </a:r>
            <a:endParaRPr lang="en-US" sz="680" dirty="0"/>
          </a:p>
        </p:txBody>
      </p:sp>
      <p:sp>
        <p:nvSpPr>
          <p:cNvPr id="41" name="Text 36"/>
          <p:cNvSpPr/>
          <p:nvPr/>
        </p:nvSpPr>
        <p:spPr>
          <a:xfrm>
            <a:off x="5199925" y="3174653"/>
            <a:ext cx="1748770" cy="21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conditional offers to candidates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5199925" y="3383756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virtual onboarding sessions via video platform</a:t>
            </a:r>
            <a:endParaRPr lang="en-US" sz="700" dirty="0"/>
          </a:p>
        </p:txBody>
      </p:sp>
      <p:sp>
        <p:nvSpPr>
          <p:cNvPr id="43" name="Text 38"/>
          <p:cNvSpPr/>
          <p:nvPr/>
        </p:nvSpPr>
        <p:spPr>
          <a:xfrm>
            <a:off x="5199925" y="3721596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I-9 (remote verification) and e-screening</a:t>
            </a:r>
            <a:endParaRPr lang="en-US" sz="700" dirty="0"/>
          </a:p>
        </p:txBody>
      </p:sp>
      <p:sp>
        <p:nvSpPr>
          <p:cNvPr id="44" name="Text 39"/>
          <p:cNvSpPr/>
          <p:nvPr/>
        </p:nvSpPr>
        <p:spPr>
          <a:xfrm>
            <a:off x="5199925" y="4059436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remote training modules &amp; tool walkthroughs</a:t>
            </a:r>
            <a:endParaRPr lang="en-US" sz="700" dirty="0"/>
          </a:p>
        </p:txBody>
      </p:sp>
      <p:sp>
        <p:nvSpPr>
          <p:cNvPr id="45" name="Text 40"/>
          <p:cNvSpPr/>
          <p:nvPr/>
        </p:nvSpPr>
        <p:spPr>
          <a:xfrm>
            <a:off x="5199925" y="4397276"/>
            <a:ext cx="1748770" cy="20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records to CMS</a:t>
            </a:r>
            <a:endParaRPr lang="en-US" sz="700" dirty="0"/>
          </a:p>
        </p:txBody>
      </p:sp>
      <p:sp>
        <p:nvSpPr>
          <p:cNvPr id="46" name="Text 41"/>
          <p:cNvSpPr/>
          <p:nvPr/>
        </p:nvSpPr>
        <p:spPr>
          <a:xfrm>
            <a:off x="7213997" y="1567309"/>
            <a:ext cx="1930003" cy="3157686"/>
          </a:xfrm>
          <a:prstGeom prst="roundRect">
            <a:avLst>
              <a:gd name="adj" fmla="val 4475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7213997" y="1567309"/>
            <a:ext cx="1930003" cy="28575"/>
          </a:xfrm>
          <a:custGeom>
            <a:avLst/>
            <a:gdLst/>
            <a:ahLst/>
            <a:cxnLst/>
            <a:rect l="l" t="t" r="r" b="b"/>
            <a:pathLst>
              <a:path w="1930003" h="28575">
                <a:moveTo>
                  <a:pt x="86360" y="0"/>
                </a:moveTo>
                <a:lnTo>
                  <a:pt x="61780" y="3572"/>
                </a:lnTo>
                <a:lnTo>
                  <a:pt x="51968" y="7144"/>
                </a:lnTo>
                <a:lnTo>
                  <a:pt x="44695" y="10716"/>
                </a:lnTo>
                <a:lnTo>
                  <a:pt x="38783" y="14288"/>
                </a:lnTo>
                <a:lnTo>
                  <a:pt x="33770" y="17859"/>
                </a:lnTo>
                <a:lnTo>
                  <a:pt x="29419" y="21431"/>
                </a:lnTo>
                <a:lnTo>
                  <a:pt x="25587" y="25003"/>
                </a:lnTo>
                <a:lnTo>
                  <a:pt x="22181" y="28575"/>
                </a:lnTo>
                <a:lnTo>
                  <a:pt x="2106061" y="28575"/>
                </a:lnTo>
                <a:lnTo>
                  <a:pt x="2102655" y="25003"/>
                </a:lnTo>
                <a:lnTo>
                  <a:pt x="2098823" y="21431"/>
                </a:lnTo>
                <a:lnTo>
                  <a:pt x="2094472" y="17859"/>
                </a:lnTo>
                <a:lnTo>
                  <a:pt x="2089460" y="14288"/>
                </a:lnTo>
                <a:lnTo>
                  <a:pt x="2083547" y="10716"/>
                </a:lnTo>
                <a:lnTo>
                  <a:pt x="2076275" y="7144"/>
                </a:lnTo>
                <a:lnTo>
                  <a:pt x="2066462" y="3572"/>
                </a:lnTo>
                <a:lnTo>
                  <a:pt x="2041882" y="0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7342138" y="1739354"/>
            <a:ext cx="285750" cy="28575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8644" y="1815861"/>
            <a:ext cx="132588" cy="13258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7342138" y="2096095"/>
            <a:ext cx="639961" cy="358706"/>
          </a:xfrm>
          <a:prstGeom prst="roundRect">
            <a:avLst>
              <a:gd name="adj" fmla="val 40008"/>
            </a:avLst>
          </a:prstGeom>
          <a:solidFill>
            <a:srgbClr val="E8912D"/>
          </a:solidFill>
          <a:ln/>
        </p:spPr>
        <p:txBody>
          <a:bodyPr wrap="none" lIns="86360" tIns="29210" rIns="86360" bIns="29210" rtlCol="0" anchor="t"/>
          <a:lstStyle/>
          <a:p>
            <a:pPr algn="l" indent="0" marL="0">
              <a:buNone/>
            </a:pPr>
            <a:r>
              <a:rPr lang="en-US" sz="730" b="1" spc="80" kern="0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4</a:t>
            </a:r>
            <a:endParaRPr lang="en-US" sz="730" dirty="0"/>
          </a:p>
        </p:txBody>
      </p:sp>
      <p:sp>
        <p:nvSpPr>
          <p:cNvPr id="51" name="Text 45"/>
          <p:cNvSpPr/>
          <p:nvPr/>
        </p:nvSpPr>
        <p:spPr>
          <a:xfrm>
            <a:off x="7342138" y="2644973"/>
            <a:ext cx="205915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spcBef>
                <a:spcPts val="1130"/>
              </a:spcBef>
              <a:spcAft>
                <a:spcPts val="1130"/>
              </a:spcAft>
              <a:buNone/>
            </a:pPr>
            <a:r>
              <a:rPr lang="en-US" sz="1130" b="1" spc="3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SUSTAIN</a:t>
            </a:r>
            <a:endParaRPr lang="en-US" sz="1130" dirty="0"/>
          </a:p>
        </p:txBody>
      </p:sp>
      <p:sp>
        <p:nvSpPr>
          <p:cNvPr id="52" name="Text 46"/>
          <p:cNvSpPr/>
          <p:nvPr/>
        </p:nvSpPr>
        <p:spPr>
          <a:xfrm>
            <a:off x="7342138" y="3050530"/>
            <a:ext cx="205915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0"/>
              </a:lnSpc>
              <a:spcBef>
                <a:spcPts val="680"/>
              </a:spcBef>
              <a:spcAft>
                <a:spcPts val="680"/>
              </a:spcAft>
              <a:buNone/>
            </a:pPr>
            <a:r>
              <a:rPr lang="en-US" sz="68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Hours – 30 Days</a:t>
            </a:r>
            <a:endParaRPr lang="en-US" sz="680" dirty="0"/>
          </a:p>
        </p:txBody>
      </p:sp>
      <p:sp>
        <p:nvSpPr>
          <p:cNvPr id="53" name="Text 47"/>
          <p:cNvSpPr/>
          <p:nvPr/>
        </p:nvSpPr>
        <p:spPr>
          <a:xfrm>
            <a:off x="7499618" y="3332411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and 30-day virtual performance check-ins</a:t>
            </a:r>
            <a:endParaRPr lang="en-US" sz="700" dirty="0"/>
          </a:p>
        </p:txBody>
      </p:sp>
      <p:sp>
        <p:nvSpPr>
          <p:cNvPr id="54" name="Text 48"/>
          <p:cNvSpPr/>
          <p:nvPr/>
        </p:nvSpPr>
        <p:spPr>
          <a:xfrm>
            <a:off x="7499618" y="3670250"/>
            <a:ext cx="1748770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of productivity &amp; connectivity metrics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7499618" y="4008090"/>
            <a:ext cx="1748770" cy="21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pipeline within 14 days</a:t>
            </a:r>
            <a:endParaRPr lang="en-US" sz="700" dirty="0"/>
          </a:p>
        </p:txBody>
      </p:sp>
      <p:sp>
        <p:nvSpPr>
          <p:cNvPr id="56" name="Text 50"/>
          <p:cNvSpPr/>
          <p:nvPr/>
        </p:nvSpPr>
        <p:spPr>
          <a:xfrm>
            <a:off x="7499618" y="4217194"/>
            <a:ext cx="1748770" cy="34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lessons learned via virtual retrospectives</a:t>
            </a:r>
            <a:endParaRPr lang="en-US" sz="700" dirty="0"/>
          </a:p>
        </p:txBody>
      </p:sp>
      <p:sp>
        <p:nvSpPr>
          <p:cNvPr id="57" name="Text 51"/>
          <p:cNvSpPr/>
          <p:nvPr/>
        </p:nvSpPr>
        <p:spPr>
          <a:xfrm>
            <a:off x="658564" y="5253484"/>
            <a:ext cx="601277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30"/>
              </a:lnSpc>
              <a:buNone/>
            </a:pPr>
            <a:r>
              <a:rPr lang="en-US" sz="73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From trigger event to fully deployed remote workforce in 72 hours — with virtual sustainment tracking through Day 30.</a:t>
            </a:r>
            <a:endParaRPr lang="en-US" sz="730" dirty="0"/>
          </a:p>
        </p:txBody>
      </p:sp>
      <p:sp>
        <p:nvSpPr>
          <p:cNvPr id="58" name="Text 52"/>
          <p:cNvSpPr/>
          <p:nvPr/>
        </p:nvSpPr>
        <p:spPr>
          <a:xfrm>
            <a:off x="443061" y="3243421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443061" y="3581261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443061" y="3919101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5"/>
          <p:cNvSpPr/>
          <p:nvPr/>
        </p:nvSpPr>
        <p:spPr>
          <a:xfrm>
            <a:off x="443061" y="4256941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>
            <a:off x="443061" y="4594781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7"/>
          <p:cNvSpPr/>
          <p:nvPr/>
        </p:nvSpPr>
        <p:spPr>
          <a:xfrm>
            <a:off x="2742754" y="3243421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>
            <a:off x="2742754" y="3452525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2742754" y="3790365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0"/>
          <p:cNvSpPr/>
          <p:nvPr/>
        </p:nvSpPr>
        <p:spPr>
          <a:xfrm>
            <a:off x="2742754" y="4128204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1"/>
          <p:cNvSpPr/>
          <p:nvPr/>
        </p:nvSpPr>
        <p:spPr>
          <a:xfrm>
            <a:off x="2742754" y="4466044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5042446" y="3253393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3"/>
          <p:cNvSpPr/>
          <p:nvPr/>
        </p:nvSpPr>
        <p:spPr>
          <a:xfrm>
            <a:off x="5042446" y="3462496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4"/>
          <p:cNvSpPr/>
          <p:nvPr/>
        </p:nvSpPr>
        <p:spPr>
          <a:xfrm>
            <a:off x="5042446" y="3800336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5"/>
          <p:cNvSpPr/>
          <p:nvPr/>
        </p:nvSpPr>
        <p:spPr>
          <a:xfrm>
            <a:off x="5042446" y="4138176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5042446" y="4476016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7"/>
          <p:cNvSpPr/>
          <p:nvPr/>
        </p:nvSpPr>
        <p:spPr>
          <a:xfrm>
            <a:off x="7342138" y="3411151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8"/>
          <p:cNvSpPr/>
          <p:nvPr/>
        </p:nvSpPr>
        <p:spPr>
          <a:xfrm>
            <a:off x="7342138" y="3748990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9"/>
          <p:cNvSpPr/>
          <p:nvPr/>
        </p:nvSpPr>
        <p:spPr>
          <a:xfrm>
            <a:off x="7342138" y="4086830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0"/>
          <p:cNvSpPr/>
          <p:nvPr/>
        </p:nvSpPr>
        <p:spPr>
          <a:xfrm>
            <a:off x="7342138" y="4295934"/>
            <a:ext cx="49411" cy="49411"/>
          </a:xfrm>
          <a:prstGeom prst="ellipse">
            <a:avLst/>
          </a:prstGeom>
          <a:solidFill>
            <a:srgbClr val="E8912D">
              <a:alpha val="8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E8912D"/>
              </a:gs>
              <a:gs pos="100000">
                <a:srgbClr val="D4782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14543" y="342900"/>
            <a:ext cx="672257" cy="387525"/>
          </a:xfrm>
          <a:prstGeom prst="roundRect">
            <a:avLst>
              <a:gd name="adj" fmla="val 11142"/>
            </a:avLst>
          </a:prstGeom>
          <a:solidFill>
            <a:srgbClr val="0F1B2D"/>
          </a:solidFill>
          <a:ln/>
        </p:spPr>
        <p:txBody>
          <a:bodyPr wrap="none" lIns="128270" tIns="43180" rIns="128270" bIns="43180" rtlCol="0" anchor="t"/>
          <a:lstStyle/>
          <a:p>
            <a:pPr algn="l" indent="0" marL="0">
              <a:buNone/>
            </a:pPr>
            <a:r>
              <a:rPr lang="en-US" sz="730" b="1" spc="8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730" dirty="0"/>
          </a:p>
        </p:txBody>
      </p:sp>
      <p:sp>
        <p:nvSpPr>
          <p:cNvPr id="4" name="Text 2"/>
          <p:cNvSpPr/>
          <p:nvPr/>
        </p:nvSpPr>
        <p:spPr>
          <a:xfrm>
            <a:off x="457200" y="299591"/>
            <a:ext cx="880567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0"/>
              </a:lnSpc>
              <a:spcAft>
                <a:spcPts val="340"/>
              </a:spcAft>
              <a:buNone/>
            </a:pPr>
            <a:r>
              <a:rPr lang="en-US" sz="1910" spc="60" kern="0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PRE-PLANNING </a:t>
            </a:r>
            <a:pPr algn="l" indent="0" marL="0">
              <a:lnSpc>
                <a:spcPts val="1910"/>
              </a:lnSpc>
              <a:spcAft>
                <a:spcPts val="340"/>
              </a:spcAft>
              <a:buNone/>
            </a:pPr>
            <a:r>
              <a:rPr lang="en-US" sz="1910" b="1" spc="6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(WEEK 0)</a:t>
            </a:r>
            <a:endParaRPr lang="en-US" sz="1910" dirty="0"/>
          </a:p>
        </p:txBody>
      </p:sp>
      <p:sp>
        <p:nvSpPr>
          <p:cNvPr id="5" name="Text 3"/>
          <p:cNvSpPr/>
          <p:nvPr/>
        </p:nvSpPr>
        <p:spPr>
          <a:xfrm>
            <a:off x="457200" y="618976"/>
            <a:ext cx="2364054" cy="182166"/>
          </a:xfrm>
          <a:prstGeom prst="roundRect">
            <a:avLst>
              <a:gd name="adj" fmla="val 78780"/>
            </a:avLst>
          </a:prstGeom>
          <a:solidFill>
            <a:srgbClr val="E8912D">
              <a:alpha val="10000"/>
            </a:srgbClr>
          </a:solidFill>
          <a:ln w="9525">
            <a:solidFill>
              <a:srgbClr val="E8912D">
                <a:alpha val="30000"/>
              </a:srgbClr>
            </a:solidFill>
          </a:ln>
        </p:spPr>
        <p:txBody>
          <a:bodyPr wrap="none" lIns="243205" tIns="29210" rIns="100330" bIns="2921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B0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80% of success is determined.</a:t>
            </a:r>
            <a:endParaRPr lang="en-US" sz="73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604" y="643765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929283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8912D"/>
              </a:gs>
              <a:gs pos="100000">
                <a:srgbClr val="D4782A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707" y="1005789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9270" y="1008162"/>
            <a:ext cx="223596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30" kern="0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CONTRACT REALITY &amp; SCOPE LOCK</a:t>
            </a:r>
            <a:endParaRPr lang="en-US" sz="840" dirty="0"/>
          </a:p>
        </p:txBody>
      </p:sp>
      <p:sp>
        <p:nvSpPr>
          <p:cNvPr id="10" name="Text 6"/>
          <p:cNvSpPr/>
          <p:nvPr/>
        </p:nvSpPr>
        <p:spPr>
          <a:xfrm>
            <a:off x="457200" y="1315343"/>
            <a:ext cx="2647504" cy="2686050"/>
          </a:xfrm>
          <a:prstGeom prst="roundRect">
            <a:avLst>
              <a:gd name="adj" fmla="val 3790"/>
            </a:avLst>
          </a:prstGeom>
          <a:solidFill>
            <a:srgbClr val="FFFFFF"/>
          </a:solidFill>
          <a:ln w="9525">
            <a:solidFill>
              <a:srgbClr val="0F1B2D">
                <a:alpha val="6000"/>
              </a:srgbClr>
            </a:solidFill>
          </a:ln>
          <a:effectLst>
            <a:outerShdw sx="100000" sy="100000" kx="0" ky="0" algn="bl" rotWithShape="0" blurRad="114300" dist="13970" dir="5400000">
              <a:srgbClr val="0f1b2d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10195" y="1651546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10195" y="1527870"/>
            <a:ext cx="43160" cy="43160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18096" y="1484709"/>
            <a:ext cx="198450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roles + headcount by labor category</a:t>
            </a:r>
            <a:endParaRPr lang="en-US" sz="760" dirty="0"/>
          </a:p>
        </p:txBody>
      </p:sp>
      <p:sp>
        <p:nvSpPr>
          <p:cNvPr id="14" name="Text 10"/>
          <p:cNvSpPr/>
          <p:nvPr/>
        </p:nvSpPr>
        <p:spPr>
          <a:xfrm>
            <a:off x="610195" y="1859607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10195" y="1735931"/>
            <a:ext cx="43160" cy="43160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18096" y="1692771"/>
            <a:ext cx="2252499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requirements (active vs sponsorable)</a:t>
            </a:r>
            <a:endParaRPr lang="en-US" sz="760" dirty="0"/>
          </a:p>
        </p:txBody>
      </p:sp>
      <p:sp>
        <p:nvSpPr>
          <p:cNvPr id="17" name="Text 13"/>
          <p:cNvSpPr/>
          <p:nvPr/>
        </p:nvSpPr>
        <p:spPr>
          <a:xfrm>
            <a:off x="610195" y="2067669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10195" y="1943993"/>
            <a:ext cx="43160" cy="43160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18096" y="1900833"/>
            <a:ext cx="1705049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location + facility requirements</a:t>
            </a:r>
            <a:endParaRPr lang="en-US" sz="760" dirty="0"/>
          </a:p>
        </p:txBody>
      </p:sp>
      <p:sp>
        <p:nvSpPr>
          <p:cNvPr id="20" name="Text 16"/>
          <p:cNvSpPr/>
          <p:nvPr/>
        </p:nvSpPr>
        <p:spPr>
          <a:xfrm>
            <a:off x="610195" y="2275731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10195" y="2152055"/>
            <a:ext cx="43160" cy="43160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718096" y="2108895"/>
            <a:ext cx="1276782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 + ramp schedule</a:t>
            </a:r>
            <a:endParaRPr lang="en-US" sz="760" dirty="0"/>
          </a:p>
        </p:txBody>
      </p:sp>
      <p:sp>
        <p:nvSpPr>
          <p:cNvPr id="23" name="Text 19"/>
          <p:cNvSpPr/>
          <p:nvPr/>
        </p:nvSpPr>
        <p:spPr>
          <a:xfrm>
            <a:off x="610195" y="2483793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10195" y="2360116"/>
            <a:ext cx="43160" cy="43160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18096" y="2316956"/>
            <a:ext cx="89353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+ rate caps</a:t>
            </a:r>
            <a:endParaRPr lang="en-US" sz="760" dirty="0"/>
          </a:p>
        </p:txBody>
      </p:sp>
      <p:sp>
        <p:nvSpPr>
          <p:cNvPr id="26" name="Text 22"/>
          <p:cNvSpPr/>
          <p:nvPr/>
        </p:nvSpPr>
        <p:spPr>
          <a:xfrm>
            <a:off x="610195" y="2691854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10195" y="2568178"/>
            <a:ext cx="43160" cy="43160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18096" y="2525018"/>
            <a:ext cx="1220792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vs non-billable lag</a:t>
            </a:r>
            <a:endParaRPr lang="en-US" sz="760" dirty="0"/>
          </a:p>
        </p:txBody>
      </p:sp>
      <p:sp>
        <p:nvSpPr>
          <p:cNvPr id="29" name="Text 25"/>
          <p:cNvSpPr/>
          <p:nvPr/>
        </p:nvSpPr>
        <p:spPr>
          <a:xfrm>
            <a:off x="610195" y="2899916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10195" y="2776240"/>
            <a:ext cx="43160" cy="43160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718096" y="2733080"/>
            <a:ext cx="1102757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constraints</a:t>
            </a:r>
            <a:endParaRPr lang="en-US" sz="760" dirty="0"/>
          </a:p>
        </p:txBody>
      </p:sp>
      <p:sp>
        <p:nvSpPr>
          <p:cNvPr id="32" name="Text 28"/>
          <p:cNvSpPr/>
          <p:nvPr/>
        </p:nvSpPr>
        <p:spPr>
          <a:xfrm>
            <a:off x="610195" y="2984302"/>
            <a:ext cx="43160" cy="43160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718096" y="2941141"/>
            <a:ext cx="81986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expectations</a:t>
            </a:r>
            <a:endParaRPr lang="en-US" sz="760" dirty="0"/>
          </a:p>
        </p:txBody>
      </p:sp>
      <p:sp>
        <p:nvSpPr>
          <p:cNvPr id="34" name="Text 30"/>
          <p:cNvSpPr/>
          <p:nvPr/>
        </p:nvSpPr>
        <p:spPr>
          <a:xfrm>
            <a:off x="3248174" y="929283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2D7D46"/>
              </a:gs>
              <a:gs pos="100000">
                <a:srgbClr val="1B5E3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24680" y="1005789"/>
            <a:ext cx="132588" cy="1325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620244" y="1008162"/>
            <a:ext cx="1284967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30" kern="0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REMOTE READINESS</a:t>
            </a:r>
            <a:endParaRPr lang="en-US" sz="840" dirty="0"/>
          </a:p>
        </p:txBody>
      </p:sp>
      <p:sp>
        <p:nvSpPr>
          <p:cNvPr id="37" name="Text 32"/>
          <p:cNvSpPr/>
          <p:nvPr/>
        </p:nvSpPr>
        <p:spPr>
          <a:xfrm>
            <a:off x="3248174" y="1315343"/>
            <a:ext cx="2647652" cy="2686050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9525">
            <a:solidFill>
              <a:srgbClr val="0F1B2D">
                <a:alpha val="6000"/>
              </a:srgbClr>
            </a:solidFill>
          </a:ln>
          <a:effectLst>
            <a:outerShdw sx="100000" sy="100000" kx="0" ky="0" algn="bl" rotWithShape="0" blurRad="114300" dist="13970" dir="5400000">
              <a:srgbClr val="0f1b2d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3401169" y="1786682"/>
            <a:ext cx="2341662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3401169" y="1527870"/>
            <a:ext cx="43160" cy="43160"/>
          </a:xfrm>
          <a:prstGeom prst="ellipse">
            <a:avLst/>
          </a:prstGeom>
          <a:solidFill>
            <a:srgbClr val="2D7D4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3509070" y="1484709"/>
            <a:ext cx="2278437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inventory &amp; shipping logistics ⬤ CRITICAL PATH</a:t>
            </a:r>
            <a:endParaRPr lang="en-US" sz="760" dirty="0"/>
          </a:p>
        </p:txBody>
      </p:sp>
      <p:sp>
        <p:nvSpPr>
          <p:cNvPr id="41" name="Text 36"/>
          <p:cNvSpPr/>
          <p:nvPr/>
        </p:nvSpPr>
        <p:spPr>
          <a:xfrm>
            <a:off x="3401169" y="1994743"/>
            <a:ext cx="2341662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3401169" y="1871067"/>
            <a:ext cx="43160" cy="43160"/>
          </a:xfrm>
          <a:prstGeom prst="ellipse">
            <a:avLst/>
          </a:prstGeom>
          <a:solidFill>
            <a:srgbClr val="2D7D4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3509070" y="1827907"/>
            <a:ext cx="1987123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workspace attestation requirements</a:t>
            </a:r>
            <a:endParaRPr lang="en-US" sz="760" dirty="0"/>
          </a:p>
        </p:txBody>
      </p:sp>
      <p:sp>
        <p:nvSpPr>
          <p:cNvPr id="44" name="Text 39"/>
          <p:cNvSpPr/>
          <p:nvPr/>
        </p:nvSpPr>
        <p:spPr>
          <a:xfrm>
            <a:off x="3401169" y="2202805"/>
            <a:ext cx="2341662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3401169" y="2079129"/>
            <a:ext cx="43160" cy="43160"/>
          </a:xfrm>
          <a:prstGeom prst="ellipse">
            <a:avLst/>
          </a:prstGeom>
          <a:solidFill>
            <a:srgbClr val="2D7D4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3509070" y="2035969"/>
            <a:ext cx="174548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&amp; endpoint security provisioning</a:t>
            </a:r>
            <a:endParaRPr lang="en-US" sz="760" dirty="0"/>
          </a:p>
        </p:txBody>
      </p:sp>
      <p:sp>
        <p:nvSpPr>
          <p:cNvPr id="47" name="Text 42"/>
          <p:cNvSpPr/>
          <p:nvPr/>
        </p:nvSpPr>
        <p:spPr>
          <a:xfrm>
            <a:off x="3401169" y="2546003"/>
            <a:ext cx="2341662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3401169" y="2287191"/>
            <a:ext cx="43160" cy="43160"/>
          </a:xfrm>
          <a:prstGeom prst="ellipse">
            <a:avLst/>
          </a:prstGeom>
          <a:solidFill>
            <a:srgbClr val="2D7D4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3509070" y="2244030"/>
            <a:ext cx="2278437" cy="283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employment compliance (multi-state hiring)</a:t>
            </a:r>
            <a:endParaRPr lang="en-US" sz="760" dirty="0"/>
          </a:p>
        </p:txBody>
      </p:sp>
      <p:sp>
        <p:nvSpPr>
          <p:cNvPr id="50" name="Text 45"/>
          <p:cNvSpPr/>
          <p:nvPr/>
        </p:nvSpPr>
        <p:spPr>
          <a:xfrm>
            <a:off x="3401169" y="2630388"/>
            <a:ext cx="43160" cy="43160"/>
          </a:xfrm>
          <a:prstGeom prst="ellipse">
            <a:avLst/>
          </a:prstGeom>
          <a:solidFill>
            <a:srgbClr val="2D7D4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6"/>
          <p:cNvSpPr/>
          <p:nvPr/>
        </p:nvSpPr>
        <p:spPr>
          <a:xfrm>
            <a:off x="3509070" y="2587228"/>
            <a:ext cx="244535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5–7 day shipping buffer in ramp timeline</a:t>
            </a:r>
            <a:endParaRPr lang="en-US" sz="760" dirty="0"/>
          </a:p>
        </p:txBody>
      </p:sp>
      <p:sp>
        <p:nvSpPr>
          <p:cNvPr id="52" name="Text 47"/>
          <p:cNvSpPr/>
          <p:nvPr/>
        </p:nvSpPr>
        <p:spPr>
          <a:xfrm>
            <a:off x="3507730" y="2797225"/>
            <a:ext cx="1264533" cy="141982"/>
          </a:xfrm>
          <a:prstGeom prst="roundRect">
            <a:avLst>
              <a:gd name="adj" fmla="val 30412"/>
            </a:avLst>
          </a:prstGeom>
          <a:solidFill>
            <a:srgbClr val="2D7D46">
              <a:alpha val="10000"/>
            </a:srgbClr>
          </a:solidFill>
          <a:ln w="9525">
            <a:solidFill>
              <a:srgbClr val="2D7D46">
                <a:alpha val="30000"/>
              </a:srgbClr>
            </a:solidFill>
          </a:ln>
        </p:spPr>
        <p:txBody>
          <a:bodyPr wrap="none" lIns="176183" tIns="13970" rIns="71120" bIns="1397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B5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+5–7 DAYS TO TIMELINE</a:t>
            </a:r>
            <a:endParaRPr lang="en-US" sz="650" dirty="0"/>
          </a:p>
        </p:txBody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56703" y="2801847"/>
            <a:ext cx="132588" cy="132588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6039296" y="929283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1A2940"/>
              </a:gs>
              <a:gs pos="100000">
                <a:srgbClr val="0F1B2D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15803" y="1005789"/>
            <a:ext cx="132588" cy="132588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6411367" y="1008162"/>
            <a:ext cx="1748105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30" kern="0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THE HIRING MACHINE</a:t>
            </a:r>
            <a:endParaRPr lang="en-US" sz="840" dirty="0"/>
          </a:p>
        </p:txBody>
      </p:sp>
      <p:sp>
        <p:nvSpPr>
          <p:cNvPr id="57" name="Text 50"/>
          <p:cNvSpPr/>
          <p:nvPr/>
        </p:nvSpPr>
        <p:spPr>
          <a:xfrm>
            <a:off x="6039296" y="1315343"/>
            <a:ext cx="2647504" cy="2686050"/>
          </a:xfrm>
          <a:prstGeom prst="roundRect">
            <a:avLst>
              <a:gd name="adj" fmla="val 3790"/>
            </a:avLst>
          </a:prstGeom>
          <a:solidFill>
            <a:srgbClr val="FFFFFF"/>
          </a:solidFill>
          <a:ln w="9525">
            <a:solidFill>
              <a:srgbClr val="0F1B2D">
                <a:alpha val="6000"/>
              </a:srgbClr>
            </a:solidFill>
          </a:ln>
          <a:effectLst>
            <a:outerShdw sx="100000" sy="100000" kx="0" ky="0" algn="bl" rotWithShape="0" blurRad="114300" dist="13970" dir="5400000">
              <a:srgbClr val="0f1b2d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6192292" y="1651546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6192292" y="1527870"/>
            <a:ext cx="43160" cy="43160"/>
          </a:xfrm>
          <a:prstGeom prst="ellipse">
            <a:avLst/>
          </a:prstGeom>
          <a:solidFill>
            <a:srgbClr val="1A29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6300192" y="1484709"/>
            <a:ext cx="222941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hiring pods (1 recruiter per 15–25 hires/mo)</a:t>
            </a:r>
            <a:endParaRPr lang="en-US" sz="760" dirty="0"/>
          </a:p>
        </p:txBody>
      </p:sp>
      <p:sp>
        <p:nvSpPr>
          <p:cNvPr id="61" name="Text 54"/>
          <p:cNvSpPr/>
          <p:nvPr/>
        </p:nvSpPr>
        <p:spPr>
          <a:xfrm>
            <a:off x="6192292" y="1859607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6192292" y="1735931"/>
            <a:ext cx="43160" cy="43160"/>
          </a:xfrm>
          <a:prstGeom prst="ellipse">
            <a:avLst/>
          </a:prstGeom>
          <a:solidFill>
            <a:srgbClr val="1A29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6300192" y="1692771"/>
            <a:ext cx="1846332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coordinators (1 per 2–3 recruiters)</a:t>
            </a:r>
            <a:endParaRPr lang="en-US" sz="760" dirty="0"/>
          </a:p>
        </p:txBody>
      </p:sp>
      <p:sp>
        <p:nvSpPr>
          <p:cNvPr id="64" name="Text 57"/>
          <p:cNvSpPr/>
          <p:nvPr/>
        </p:nvSpPr>
        <p:spPr>
          <a:xfrm>
            <a:off x="6192292" y="2067669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6192292" y="1943993"/>
            <a:ext cx="43160" cy="43160"/>
          </a:xfrm>
          <a:prstGeom prst="ellipse">
            <a:avLst/>
          </a:prstGeom>
          <a:solidFill>
            <a:srgbClr val="1A29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6300192" y="1900833"/>
            <a:ext cx="1267941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hiring managers</a:t>
            </a:r>
            <a:endParaRPr lang="en-US" sz="760" dirty="0"/>
          </a:p>
        </p:txBody>
      </p:sp>
      <p:sp>
        <p:nvSpPr>
          <p:cNvPr id="67" name="Text 60"/>
          <p:cNvSpPr/>
          <p:nvPr/>
        </p:nvSpPr>
        <p:spPr>
          <a:xfrm>
            <a:off x="6192292" y="2275731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1"/>
          <p:cNvSpPr/>
          <p:nvPr/>
        </p:nvSpPr>
        <p:spPr>
          <a:xfrm>
            <a:off x="6192292" y="2152055"/>
            <a:ext cx="43160" cy="43160"/>
          </a:xfrm>
          <a:prstGeom prst="ellipse">
            <a:avLst/>
          </a:prstGeom>
          <a:solidFill>
            <a:srgbClr val="1A29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2"/>
          <p:cNvSpPr/>
          <p:nvPr/>
        </p:nvSpPr>
        <p:spPr>
          <a:xfrm>
            <a:off x="6300192" y="2108895"/>
            <a:ext cx="2093208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Pre-build JDs / interview guides / scorecards</a:t>
            </a:r>
            <a:endParaRPr lang="en-US" sz="760" dirty="0"/>
          </a:p>
        </p:txBody>
      </p:sp>
      <p:sp>
        <p:nvSpPr>
          <p:cNvPr id="70" name="Text 63"/>
          <p:cNvSpPr/>
          <p:nvPr/>
        </p:nvSpPr>
        <p:spPr>
          <a:xfrm>
            <a:off x="6192292" y="2483793"/>
            <a:ext cx="2341513" cy="9525"/>
          </a:xfrm>
          <a:prstGeom prst="rect">
            <a:avLst/>
          </a:prstGeom>
          <a:solidFill>
            <a:srgbClr val="0F1B2D">
              <a:alpha val="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4"/>
          <p:cNvSpPr/>
          <p:nvPr/>
        </p:nvSpPr>
        <p:spPr>
          <a:xfrm>
            <a:off x="6192292" y="2360116"/>
            <a:ext cx="43160" cy="43160"/>
          </a:xfrm>
          <a:prstGeom prst="ellipse">
            <a:avLst/>
          </a:prstGeom>
          <a:solidFill>
            <a:srgbClr val="1A29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5"/>
          <p:cNvSpPr/>
          <p:nvPr/>
        </p:nvSpPr>
        <p:spPr>
          <a:xfrm>
            <a:off x="6300192" y="2316956"/>
            <a:ext cx="1592416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 compensation bands</a:t>
            </a:r>
            <a:endParaRPr lang="en-US" sz="760" dirty="0"/>
          </a:p>
        </p:txBody>
      </p:sp>
      <p:sp>
        <p:nvSpPr>
          <p:cNvPr id="73" name="Text 66"/>
          <p:cNvSpPr/>
          <p:nvPr/>
        </p:nvSpPr>
        <p:spPr>
          <a:xfrm>
            <a:off x="6192292" y="2568178"/>
            <a:ext cx="43160" cy="43160"/>
          </a:xfrm>
          <a:prstGeom prst="ellipse">
            <a:avLst/>
          </a:prstGeom>
          <a:solidFill>
            <a:srgbClr val="1A2940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7"/>
          <p:cNvSpPr/>
          <p:nvPr/>
        </p:nvSpPr>
        <p:spPr>
          <a:xfrm>
            <a:off x="6300192" y="2525018"/>
            <a:ext cx="1885131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4"/>
              </a:lnSpc>
              <a:buNone/>
            </a:pPr>
            <a:r>
              <a:rPr lang="en-US" sz="76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templates aligned to contract rates</a:t>
            </a:r>
            <a:endParaRPr lang="en-US" sz="760" dirty="0"/>
          </a:p>
        </p:txBody>
      </p:sp>
      <p:sp>
        <p:nvSpPr>
          <p:cNvPr id="75" name="Text 68"/>
          <p:cNvSpPr/>
          <p:nvPr/>
        </p:nvSpPr>
        <p:spPr>
          <a:xfrm>
            <a:off x="0" y="4798070"/>
            <a:ext cx="9144000" cy="34543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9"/>
          <p:cNvSpPr/>
          <p:nvPr/>
        </p:nvSpPr>
        <p:spPr>
          <a:xfrm>
            <a:off x="457200" y="4898380"/>
            <a:ext cx="5893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i="1" dirty="0">
                <a:solidFill>
                  <a:srgbClr val="E891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60" dirty="0"/>
          </a:p>
        </p:txBody>
      </p:sp>
      <p:sp>
        <p:nvSpPr>
          <p:cNvPr id="77" name="Text 70"/>
          <p:cNvSpPr/>
          <p:nvPr/>
        </p:nvSpPr>
        <p:spPr>
          <a:xfrm>
            <a:off x="625078" y="4898380"/>
            <a:ext cx="813692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i="1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recruiting until you've pressure-tested exact roles, headcount, timelines, clearance requirements, and remote logistics — equipment shipping alone adds 5–7 days.</a:t>
            </a:r>
            <a:endParaRPr lang="en-US" sz="760" dirty="0"/>
          </a:p>
        </p:txBody>
      </p:sp>
      <p:sp>
        <p:nvSpPr>
          <p:cNvPr id="78" name="Text 71"/>
          <p:cNvSpPr/>
          <p:nvPr/>
        </p:nvSpPr>
        <p:spPr>
          <a:xfrm>
            <a:off x="8136582" y="4898380"/>
            <a:ext cx="5893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i="1" dirty="0">
                <a:solidFill>
                  <a:srgbClr val="E891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04502"/>
            <a:ext cx="35421" cy="257770"/>
          </a:xfrm>
          <a:prstGeom prst="roundRect">
            <a:avLst>
              <a:gd name="adj" fmla="val 60953"/>
            </a:avLst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6462" y="285750"/>
            <a:ext cx="295178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2030" b="1" spc="6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STRATEGY</a:t>
            </a:r>
            <a:endParaRPr lang="en-US" sz="2030" dirty="0"/>
          </a:p>
        </p:txBody>
      </p:sp>
      <p:sp>
        <p:nvSpPr>
          <p:cNvPr id="4" name="Text 2"/>
          <p:cNvSpPr/>
          <p:nvPr/>
        </p:nvSpPr>
        <p:spPr>
          <a:xfrm>
            <a:off x="3436441" y="359420"/>
            <a:ext cx="906661" cy="162729"/>
          </a:xfrm>
          <a:prstGeom prst="roundRect">
            <a:avLst>
              <a:gd name="adj" fmla="val 26535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</a:t>
            </a:r>
            <a:endParaRPr lang="en-US" sz="62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8243" y="367019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610195"/>
            <a:ext cx="90525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96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Remote hiring unlocks a </a:t>
            </a:r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candidate pool</a:t>
            </a:r>
            <a:pPr algn="l" indent="0" marL="0">
              <a:lnSpc>
                <a:spcPts val="960"/>
              </a:lnSpc>
              <a:buNone/>
            </a:pPr>
            <a:r>
              <a:rPr lang="en-US" sz="96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coverage ratio drops to </a:t>
            </a:r>
            <a:pPr algn="l" indent="0" marL="0">
              <a:lnSpc>
                <a:spcPts val="960"/>
              </a:lnSpc>
              <a:buNone/>
            </a:pPr>
            <a:r>
              <a:rPr lang="en-US" sz="960" b="1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2–3×</a:t>
            </a:r>
            <a:pPr algn="l" indent="0" marL="0">
              <a:lnSpc>
                <a:spcPts val="960"/>
              </a:lnSpc>
              <a:buNone/>
            </a:pPr>
            <a:r>
              <a:rPr lang="en-US" sz="960" dirty="0">
                <a:solidFill>
                  <a:srgbClr val="8899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with faster interview cycles.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400050" y="882551"/>
            <a:ext cx="1599605" cy="1262360"/>
          </a:xfrm>
          <a:prstGeom prst="roundRect">
            <a:avLst>
              <a:gd name="adj" fmla="val 6841"/>
            </a:avLst>
          </a:prstGeom>
          <a:solidFill>
            <a:srgbClr val="1A2940"/>
          </a:solidFill>
          <a:ln w="9525">
            <a:solidFill>
              <a:srgbClr val="E8912D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746349" y="978396"/>
            <a:ext cx="157460" cy="173206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23875" y="102021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382" y="1096723"/>
            <a:ext cx="132588" cy="132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875" y="1349127"/>
            <a:ext cx="130182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INTERNAL ATS MINING</a:t>
            </a:r>
            <a:endParaRPr lang="en-US" sz="790" dirty="0"/>
          </a:p>
        </p:txBody>
      </p:sp>
      <p:sp>
        <p:nvSpPr>
          <p:cNvPr id="12" name="Text 8"/>
          <p:cNvSpPr/>
          <p:nvPr/>
        </p:nvSpPr>
        <p:spPr>
          <a:xfrm>
            <a:off x="523875" y="1506587"/>
            <a:ext cx="1378994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existing database first — now includes nationwide candidates previously filtered by location.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2085975" y="882551"/>
            <a:ext cx="1599754" cy="1262360"/>
          </a:xfrm>
          <a:prstGeom prst="roundRect">
            <a:avLst>
              <a:gd name="adj" fmla="val 6841"/>
            </a:avLst>
          </a:prstGeom>
          <a:solidFill>
            <a:srgbClr val="1A2940"/>
          </a:solidFill>
          <a:ln w="9525">
            <a:solidFill>
              <a:srgbClr val="E8912D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432423" y="978396"/>
            <a:ext cx="157460" cy="173206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2209800" y="102021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86307" y="1096723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09800" y="1349127"/>
            <a:ext cx="7111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REFERRALS</a:t>
            </a:r>
            <a:endParaRPr lang="en-US" sz="790" dirty="0"/>
          </a:p>
        </p:txBody>
      </p:sp>
      <p:sp>
        <p:nvSpPr>
          <p:cNvPr id="18" name="Text 13"/>
          <p:cNvSpPr/>
          <p:nvPr/>
        </p:nvSpPr>
        <p:spPr>
          <a:xfrm>
            <a:off x="2209800" y="1506587"/>
            <a:ext cx="137914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heavily — remote roles widen referral networks across all time zones.</a:t>
            </a:r>
            <a:endParaRPr lang="en-US" sz="730" dirty="0"/>
          </a:p>
        </p:txBody>
      </p:sp>
      <p:sp>
        <p:nvSpPr>
          <p:cNvPr id="19" name="Text 14"/>
          <p:cNvSpPr/>
          <p:nvPr/>
        </p:nvSpPr>
        <p:spPr>
          <a:xfrm>
            <a:off x="3772049" y="882551"/>
            <a:ext cx="1599754" cy="1262360"/>
          </a:xfrm>
          <a:prstGeom prst="roundRect">
            <a:avLst>
              <a:gd name="adj" fmla="val 6841"/>
            </a:avLst>
          </a:prstGeom>
          <a:solidFill>
            <a:srgbClr val="1A2940"/>
          </a:solidFill>
          <a:ln w="9525">
            <a:solidFill>
              <a:srgbClr val="E8912D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118497" y="978396"/>
            <a:ext cx="157460" cy="173206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21" name="Text 16"/>
          <p:cNvSpPr/>
          <p:nvPr/>
        </p:nvSpPr>
        <p:spPr>
          <a:xfrm>
            <a:off x="3895874" y="102021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72380" y="1096723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95874" y="1349127"/>
            <a:ext cx="13791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CLEARANCE JOB BOARDS</a:t>
            </a:r>
            <a:endParaRPr lang="en-US" sz="790" dirty="0"/>
          </a:p>
        </p:txBody>
      </p:sp>
      <p:sp>
        <p:nvSpPr>
          <p:cNvPr id="24" name="Text 18"/>
          <p:cNvSpPr/>
          <p:nvPr/>
        </p:nvSpPr>
        <p:spPr>
          <a:xfrm>
            <a:off x="3895874" y="1620887"/>
            <a:ext cx="137914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cleared talent pools — remote expands reach beyond local secure facilities.</a:t>
            </a:r>
            <a:endParaRPr lang="en-US" sz="730" dirty="0"/>
          </a:p>
        </p:txBody>
      </p:sp>
      <p:sp>
        <p:nvSpPr>
          <p:cNvPr id="25" name="Text 19"/>
          <p:cNvSpPr/>
          <p:nvPr/>
        </p:nvSpPr>
        <p:spPr>
          <a:xfrm>
            <a:off x="5458123" y="882551"/>
            <a:ext cx="1599754" cy="1262360"/>
          </a:xfrm>
          <a:prstGeom prst="roundRect">
            <a:avLst>
              <a:gd name="adj" fmla="val 6841"/>
            </a:avLst>
          </a:prstGeom>
          <a:solidFill>
            <a:srgbClr val="1A2940"/>
          </a:solidFill>
          <a:ln w="9525">
            <a:solidFill>
              <a:srgbClr val="E8912D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804571" y="978396"/>
            <a:ext cx="157460" cy="173206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27" name="Text 21"/>
          <p:cNvSpPr/>
          <p:nvPr/>
        </p:nvSpPr>
        <p:spPr>
          <a:xfrm>
            <a:off x="5581948" y="102021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8454" y="1096723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81948" y="1349127"/>
            <a:ext cx="12424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STAFFING PARTNERS</a:t>
            </a:r>
            <a:endParaRPr lang="en-US" sz="790" dirty="0"/>
          </a:p>
        </p:txBody>
      </p:sp>
      <p:sp>
        <p:nvSpPr>
          <p:cNvPr id="30" name="Text 23"/>
          <p:cNvSpPr/>
          <p:nvPr/>
        </p:nvSpPr>
        <p:spPr>
          <a:xfrm>
            <a:off x="5581948" y="1506587"/>
            <a:ext cx="1379146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Pre-vetted agencies on standby — no travel/facility coordination needed.</a:t>
            </a:r>
            <a:endParaRPr lang="en-US" sz="730" dirty="0"/>
          </a:p>
        </p:txBody>
      </p:sp>
      <p:sp>
        <p:nvSpPr>
          <p:cNvPr id="31" name="Text 24"/>
          <p:cNvSpPr/>
          <p:nvPr/>
        </p:nvSpPr>
        <p:spPr>
          <a:xfrm>
            <a:off x="7144196" y="882551"/>
            <a:ext cx="1599605" cy="1262360"/>
          </a:xfrm>
          <a:prstGeom prst="roundRect">
            <a:avLst>
              <a:gd name="adj" fmla="val 6841"/>
            </a:avLst>
          </a:prstGeom>
          <a:solidFill>
            <a:srgbClr val="1A2940"/>
          </a:solidFill>
          <a:ln w="9525">
            <a:solidFill>
              <a:srgbClr val="E8912D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8490496" y="978396"/>
            <a:ext cx="157460" cy="173206"/>
          </a:xfrm>
          <a:prstGeom prst="ellipse">
            <a:avLst/>
          </a:prstGeom>
          <a:solidFill>
            <a:srgbClr val="E8912D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 dirty="0"/>
          </a:p>
        </p:txBody>
      </p:sp>
      <p:sp>
        <p:nvSpPr>
          <p:cNvPr id="33" name="Text 26"/>
          <p:cNvSpPr/>
          <p:nvPr/>
        </p:nvSpPr>
        <p:spPr>
          <a:xfrm>
            <a:off x="7268021" y="102021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4528" y="1096723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68021" y="1349127"/>
            <a:ext cx="11608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PASSIVE SOURCING</a:t>
            </a:r>
            <a:endParaRPr lang="en-US" sz="790" dirty="0"/>
          </a:p>
        </p:txBody>
      </p:sp>
      <p:sp>
        <p:nvSpPr>
          <p:cNvPr id="36" name="Text 28"/>
          <p:cNvSpPr/>
          <p:nvPr/>
        </p:nvSpPr>
        <p:spPr>
          <a:xfrm>
            <a:off x="7268021" y="1506587"/>
            <a:ext cx="1378994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and niche groups — national pool eliminates geo-filtering constraints.</a:t>
            </a:r>
            <a:endParaRPr lang="en-US" sz="730" dirty="0"/>
          </a:p>
        </p:txBody>
      </p:sp>
      <p:sp>
        <p:nvSpPr>
          <p:cNvPr id="37" name="Text 29"/>
          <p:cNvSpPr/>
          <p:nvPr/>
        </p:nvSpPr>
        <p:spPr>
          <a:xfrm>
            <a:off x="400050" y="2259211"/>
            <a:ext cx="8343900" cy="884932"/>
          </a:xfrm>
          <a:prstGeom prst="roundRect">
            <a:avLst>
              <a:gd name="adj" fmla="val 11338"/>
            </a:avLst>
          </a:prstGeom>
          <a:gradFill rotWithShape="1">
            <a:gsLst>
              <a:gs pos="0">
                <a:srgbClr val="E8912D">
                  <a:alpha val="15000"/>
                </a:srgbClr>
              </a:gs>
              <a:gs pos="100000">
                <a:srgbClr val="E8912D">
                  <a:alpha val="5000"/>
                </a:srgbClr>
              </a:gs>
            </a:gsLst>
            <a:lin ang="2700000" scaled="1"/>
          </a:gradFill>
          <a:ln w="9525">
            <a:solidFill>
              <a:srgbClr val="E8912D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1025" y="2615952"/>
            <a:ext cx="171450" cy="17145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52785" y="2583656"/>
            <a:ext cx="1734668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9"/>
              </a:lnSpc>
              <a:spcBef>
                <a:spcPts val="1690"/>
              </a:spcBef>
              <a:spcAft>
                <a:spcPts val="1690"/>
              </a:spcAft>
              <a:buNone/>
            </a:pPr>
            <a:r>
              <a:rPr lang="en-US" sz="1690" b="1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hires needed</a:t>
            </a:r>
            <a:endParaRPr lang="en-US" sz="1690" dirty="0"/>
          </a:p>
        </p:txBody>
      </p:sp>
      <p:sp>
        <p:nvSpPr>
          <p:cNvPr id="40" name="Text 31"/>
          <p:cNvSpPr/>
          <p:nvPr/>
        </p:nvSpPr>
        <p:spPr>
          <a:xfrm>
            <a:off x="2603450" y="2592139"/>
            <a:ext cx="11593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60"/>
              </a:lnSpc>
              <a:spcBef>
                <a:spcPts val="1460"/>
              </a:spcBef>
              <a:spcAft>
                <a:spcPts val="1460"/>
              </a:spcAft>
              <a:buNone/>
            </a:pPr>
            <a:r>
              <a:rPr lang="en-US" sz="146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60" dirty="0"/>
          </a:p>
        </p:txBody>
      </p:sp>
      <p:sp>
        <p:nvSpPr>
          <p:cNvPr id="41" name="Text 32"/>
          <p:cNvSpPr/>
          <p:nvPr/>
        </p:nvSpPr>
        <p:spPr>
          <a:xfrm>
            <a:off x="2841278" y="2583656"/>
            <a:ext cx="893371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9"/>
              </a:lnSpc>
              <a:spcBef>
                <a:spcPts val="1690"/>
              </a:spcBef>
              <a:spcAft>
                <a:spcPts val="1690"/>
              </a:spcAft>
              <a:buNone/>
            </a:pPr>
            <a:r>
              <a:rPr lang="en-US" sz="1690" b="1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100–150</a:t>
            </a:r>
            <a:endParaRPr lang="en-US" sz="1690" dirty="0"/>
          </a:p>
        </p:txBody>
      </p:sp>
      <p:sp>
        <p:nvSpPr>
          <p:cNvPr id="42" name="Text 33"/>
          <p:cNvSpPr/>
          <p:nvPr/>
        </p:nvSpPr>
        <p:spPr>
          <a:xfrm>
            <a:off x="5225653" y="2562523"/>
            <a:ext cx="83607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(2–3× coverage)</a:t>
            </a:r>
            <a:endParaRPr lang="en-US" sz="790" dirty="0"/>
          </a:p>
        </p:txBody>
      </p:sp>
      <p:sp>
        <p:nvSpPr>
          <p:cNvPr id="43" name="Text 34"/>
          <p:cNvSpPr/>
          <p:nvPr/>
        </p:nvSpPr>
        <p:spPr>
          <a:xfrm>
            <a:off x="3833515" y="2693343"/>
            <a:ext cx="1159520" cy="172551"/>
          </a:xfrm>
          <a:prstGeom prst="roundRect">
            <a:avLst>
              <a:gd name="adj" fmla="val 20608"/>
            </a:avLst>
          </a:prstGeom>
          <a:solidFill>
            <a:srgbClr val="60A5FA">
              <a:alpha val="12000"/>
            </a:srgbClr>
          </a:solidFill>
          <a:ln w="9525">
            <a:solidFill>
              <a:srgbClr val="60A5F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VERIFIED</a:t>
            </a:r>
            <a:endParaRPr lang="en-US" sz="62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60536" y="2705481"/>
            <a:ext cx="132588" cy="13258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215830" y="2693343"/>
            <a:ext cx="1092994" cy="172551"/>
          </a:xfrm>
          <a:prstGeom prst="roundRect">
            <a:avLst>
              <a:gd name="adj" fmla="val 20608"/>
            </a:avLst>
          </a:prstGeom>
          <a:solidFill>
            <a:srgbClr val="60A5FA">
              <a:alpha val="12000"/>
            </a:srgbClr>
          </a:solidFill>
          <a:ln w="9525">
            <a:solidFill>
              <a:srgbClr val="60A5F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SHIPPED</a:t>
            </a:r>
            <a:endParaRPr lang="en-US" sz="62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42852" y="2705481"/>
            <a:ext cx="132588" cy="13258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400050" y="3230463"/>
            <a:ext cx="4128790" cy="539651"/>
          </a:xfrm>
          <a:prstGeom prst="roundRect">
            <a:avLst>
              <a:gd name="adj" fmla="val 16003"/>
            </a:avLst>
          </a:prstGeom>
          <a:solidFill>
            <a:srgbClr val="1A2940"/>
          </a:solidFill>
          <a:ln w="9525">
            <a:solidFill>
              <a:srgbClr val="8899AA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19494" y="3317165"/>
            <a:ext cx="132588" cy="13258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04850" y="3326309"/>
            <a:ext cx="21069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STAGE: WORKSPACE VERIFIED</a:t>
            </a:r>
            <a:endParaRPr lang="en-US" sz="790" dirty="0"/>
          </a:p>
        </p:txBody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9001" y="3512650"/>
            <a:ext cx="132588" cy="13258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670024" y="3483769"/>
            <a:ext cx="18703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meets security &amp; ergonomic standards</a:t>
            </a:r>
            <a:endParaRPr lang="en-US" sz="68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89321" y="3512650"/>
            <a:ext cx="132588" cy="13258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2750344" y="3483769"/>
            <a:ext cx="16736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connectivity verified before start date</a:t>
            </a:r>
            <a:endParaRPr lang="en-US" sz="680" dirty="0"/>
          </a:p>
        </p:txBody>
      </p:sp>
      <p:sp>
        <p:nvSpPr>
          <p:cNvPr id="54" name="Text 40"/>
          <p:cNvSpPr/>
          <p:nvPr/>
        </p:nvSpPr>
        <p:spPr>
          <a:xfrm>
            <a:off x="4615160" y="3230463"/>
            <a:ext cx="4128790" cy="539651"/>
          </a:xfrm>
          <a:prstGeom prst="roundRect">
            <a:avLst>
              <a:gd name="adj" fmla="val 16003"/>
            </a:avLst>
          </a:prstGeom>
          <a:solidFill>
            <a:srgbClr val="1A2940"/>
          </a:solidFill>
          <a:ln w="9525">
            <a:solidFill>
              <a:srgbClr val="8899AA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34604" y="3317165"/>
            <a:ext cx="132588" cy="132588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4919960" y="3326309"/>
            <a:ext cx="20129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spc="3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STAGE: EQUIPMENT SHIPPED</a:t>
            </a:r>
            <a:endParaRPr lang="en-US" sz="790" dirty="0"/>
          </a:p>
        </p:txBody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724111" y="3512650"/>
            <a:ext cx="132588" cy="132588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4885134" y="3483769"/>
            <a:ext cx="18662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peripherals &amp; credentials shipped pre-Day 1</a:t>
            </a:r>
            <a:endParaRPr lang="en-US" sz="680" dirty="0"/>
          </a:p>
        </p:txBody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800412" y="3512650"/>
            <a:ext cx="132588" cy="132588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6961436" y="3483769"/>
            <a:ext cx="16777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 to confirm onboarding readiness</a:t>
            </a:r>
            <a:endParaRPr lang="en-US" sz="680" dirty="0"/>
          </a:p>
        </p:txBody>
      </p:sp>
      <p:sp>
        <p:nvSpPr>
          <p:cNvPr id="61" name="Text 44"/>
          <p:cNvSpPr/>
          <p:nvPr/>
        </p:nvSpPr>
        <p:spPr>
          <a:xfrm>
            <a:off x="400050" y="3856434"/>
            <a:ext cx="8343900" cy="624780"/>
          </a:xfrm>
          <a:prstGeom prst="roundRect">
            <a:avLst>
              <a:gd name="adj" fmla="val 13822"/>
            </a:avLst>
          </a:prstGeom>
          <a:solidFill>
            <a:srgbClr val="1A2940"/>
          </a:solidFill>
          <a:ln w="9525">
            <a:solidFill>
              <a:srgbClr val="8899AA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34823" y="3978706"/>
            <a:ext cx="132588" cy="132588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735509" y="3987850"/>
            <a:ext cx="14215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840" b="1" spc="3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PRE-CLOSE STRATEGY</a:t>
            </a:r>
            <a:endParaRPr lang="en-US" sz="840" dirty="0"/>
          </a:p>
        </p:txBody>
      </p:sp>
      <p:sp>
        <p:nvSpPr>
          <p:cNvPr id="64" name="Text 46"/>
          <p:cNvSpPr/>
          <p:nvPr/>
        </p:nvSpPr>
        <p:spPr>
          <a:xfrm>
            <a:off x="2143274" y="3997375"/>
            <a:ext cx="119951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Start closing before offers</a:t>
            </a:r>
            <a:endParaRPr lang="en-US" sz="680" dirty="0"/>
          </a:p>
        </p:txBody>
      </p:sp>
      <p:sp>
        <p:nvSpPr>
          <p:cNvPr id="65" name="Text 47"/>
          <p:cNvSpPr/>
          <p:nvPr/>
        </p:nvSpPr>
        <p:spPr>
          <a:xfrm>
            <a:off x="5478363" y="3966270"/>
            <a:ext cx="3112591" cy="173206"/>
          </a:xfrm>
          <a:prstGeom prst="roundRect">
            <a:avLst>
              <a:gd name="adj" fmla="val 24930"/>
            </a:avLst>
          </a:prstGeom>
          <a:solidFill>
            <a:srgbClr val="8899AA">
              <a:alpha val="8000"/>
            </a:srgbClr>
          </a:solidFill>
          <a:ln w="9525">
            <a:solidFill>
              <a:srgbClr val="8899AA">
                <a:alpha val="1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management is a key scheduling factor for distributed interviews</a:t>
            </a:r>
            <a:endParaRPr lang="en-US" sz="680" dirty="0"/>
          </a:p>
        </p:txBody>
      </p:sp>
      <p:pic>
        <p:nvPicPr>
          <p:cNvPr id="66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527337" y="3978631"/>
            <a:ext cx="132588" cy="132588"/>
          </a:xfrm>
          <a:prstGeom prst="rect">
            <a:avLst/>
          </a:prstGeom>
        </p:spPr>
      </p:pic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24330" y="4209761"/>
            <a:ext cx="132588" cy="132588"/>
          </a:xfrm>
          <a:prstGeom prst="rect">
            <a:avLst/>
          </a:prstGeom>
        </p:spPr>
      </p:pic>
      <p:sp>
        <p:nvSpPr>
          <p:cNvPr id="68" name="Text 48"/>
          <p:cNvSpPr/>
          <p:nvPr/>
        </p:nvSpPr>
        <p:spPr>
          <a:xfrm>
            <a:off x="685354" y="4180880"/>
            <a:ext cx="2385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Warm Bench — pre-qualified candidates ready to deploy</a:t>
            </a:r>
            <a:endParaRPr lang="en-US" sz="680" dirty="0"/>
          </a:p>
        </p:txBody>
      </p:sp>
      <p:pic>
        <p:nvPicPr>
          <p:cNvPr id="69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138496" y="4209761"/>
            <a:ext cx="132588" cy="132588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3299520" y="4180880"/>
            <a:ext cx="2432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Virtual Interviews — no travel or facility coordination needed</a:t>
            </a:r>
            <a:endParaRPr lang="en-US" sz="680" dirty="0"/>
          </a:p>
        </p:txBody>
      </p:sp>
      <p:pic>
        <p:nvPicPr>
          <p:cNvPr id="71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799246" y="4209761"/>
            <a:ext cx="132588" cy="132588"/>
          </a:xfrm>
          <a:prstGeom prst="rect">
            <a:avLst/>
          </a:prstGeom>
        </p:spPr>
      </p:pic>
      <p:sp>
        <p:nvSpPr>
          <p:cNvPr id="72" name="Text 50"/>
          <p:cNvSpPr/>
          <p:nvPr/>
        </p:nvSpPr>
        <p:spPr>
          <a:xfrm>
            <a:off x="5960269" y="4180880"/>
            <a:ext cx="2683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80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Soft-Close on Comp &amp; Timeline — align expectations before offer stage</a:t>
            </a:r>
            <a:endParaRPr lang="en-US" sz="680" dirty="0"/>
          </a:p>
        </p:txBody>
      </p:sp>
      <p:sp>
        <p:nvSpPr>
          <p:cNvPr id="73" name="Text 51"/>
          <p:cNvSpPr/>
          <p:nvPr/>
        </p:nvSpPr>
        <p:spPr>
          <a:xfrm>
            <a:off x="409575" y="892076"/>
            <a:ext cx="1580559" cy="21580"/>
          </a:xfrm>
          <a:custGeom>
            <a:avLst/>
            <a:gdLst/>
            <a:ahLst/>
            <a:cxnLst/>
            <a:rect l="l" t="t" r="r" b="b"/>
            <a:pathLst>
              <a:path w="1580559" h="21580">
                <a:moveTo>
                  <a:pt x="86360" y="0"/>
                </a:moveTo>
                <a:lnTo>
                  <a:pt x="1494199" y="0"/>
                </a:lnTo>
                <a:lnTo>
                  <a:pt x="1515615" y="2698"/>
                </a:lnTo>
                <a:lnTo>
                  <a:pt x="1524245" y="5395"/>
                </a:lnTo>
                <a:lnTo>
                  <a:pt x="1530699" y="8093"/>
                </a:lnTo>
                <a:lnTo>
                  <a:pt x="1535999" y="10790"/>
                </a:lnTo>
                <a:lnTo>
                  <a:pt x="1540542" y="13488"/>
                </a:lnTo>
                <a:lnTo>
                  <a:pt x="1544534" y="16185"/>
                </a:lnTo>
                <a:lnTo>
                  <a:pt x="1548096" y="18883"/>
                </a:lnTo>
                <a:lnTo>
                  <a:pt x="155131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8912D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52"/>
          <p:cNvSpPr/>
          <p:nvPr/>
        </p:nvSpPr>
        <p:spPr>
          <a:xfrm>
            <a:off x="2095500" y="892076"/>
            <a:ext cx="1580702" cy="21580"/>
          </a:xfrm>
          <a:custGeom>
            <a:avLst/>
            <a:gdLst/>
            <a:ahLst/>
            <a:cxnLst/>
            <a:rect l="l" t="t" r="r" b="b"/>
            <a:pathLst>
              <a:path w="1580702" h="21580">
                <a:moveTo>
                  <a:pt x="86360" y="0"/>
                </a:moveTo>
                <a:lnTo>
                  <a:pt x="1494342" y="0"/>
                </a:lnTo>
                <a:lnTo>
                  <a:pt x="1515758" y="2698"/>
                </a:lnTo>
                <a:lnTo>
                  <a:pt x="1524388" y="5395"/>
                </a:lnTo>
                <a:lnTo>
                  <a:pt x="1530842" y="8093"/>
                </a:lnTo>
                <a:lnTo>
                  <a:pt x="1536142" y="10790"/>
                </a:lnTo>
                <a:lnTo>
                  <a:pt x="1540685" y="13488"/>
                </a:lnTo>
                <a:lnTo>
                  <a:pt x="1544676" y="16185"/>
                </a:lnTo>
                <a:lnTo>
                  <a:pt x="1548239" y="18883"/>
                </a:lnTo>
                <a:lnTo>
                  <a:pt x="15514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8912D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53"/>
          <p:cNvSpPr/>
          <p:nvPr/>
        </p:nvSpPr>
        <p:spPr>
          <a:xfrm>
            <a:off x="3781574" y="892076"/>
            <a:ext cx="1580702" cy="21580"/>
          </a:xfrm>
          <a:custGeom>
            <a:avLst/>
            <a:gdLst/>
            <a:ahLst/>
            <a:cxnLst/>
            <a:rect l="l" t="t" r="r" b="b"/>
            <a:pathLst>
              <a:path w="1580702" h="21580">
                <a:moveTo>
                  <a:pt x="86360" y="0"/>
                </a:moveTo>
                <a:lnTo>
                  <a:pt x="1494342" y="0"/>
                </a:lnTo>
                <a:lnTo>
                  <a:pt x="1515758" y="2698"/>
                </a:lnTo>
                <a:lnTo>
                  <a:pt x="1524388" y="5395"/>
                </a:lnTo>
                <a:lnTo>
                  <a:pt x="1530842" y="8093"/>
                </a:lnTo>
                <a:lnTo>
                  <a:pt x="1536142" y="10790"/>
                </a:lnTo>
                <a:lnTo>
                  <a:pt x="1540685" y="13488"/>
                </a:lnTo>
                <a:lnTo>
                  <a:pt x="1544676" y="16185"/>
                </a:lnTo>
                <a:lnTo>
                  <a:pt x="1548239" y="18883"/>
                </a:lnTo>
                <a:lnTo>
                  <a:pt x="15514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8912D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54"/>
          <p:cNvSpPr/>
          <p:nvPr/>
        </p:nvSpPr>
        <p:spPr>
          <a:xfrm>
            <a:off x="5467648" y="892076"/>
            <a:ext cx="1580702" cy="21580"/>
          </a:xfrm>
          <a:custGeom>
            <a:avLst/>
            <a:gdLst/>
            <a:ahLst/>
            <a:cxnLst/>
            <a:rect l="l" t="t" r="r" b="b"/>
            <a:pathLst>
              <a:path w="1580702" h="21580">
                <a:moveTo>
                  <a:pt x="86360" y="0"/>
                </a:moveTo>
                <a:lnTo>
                  <a:pt x="1494342" y="0"/>
                </a:lnTo>
                <a:lnTo>
                  <a:pt x="1515758" y="2698"/>
                </a:lnTo>
                <a:lnTo>
                  <a:pt x="1524388" y="5395"/>
                </a:lnTo>
                <a:lnTo>
                  <a:pt x="1530842" y="8093"/>
                </a:lnTo>
                <a:lnTo>
                  <a:pt x="1536142" y="10790"/>
                </a:lnTo>
                <a:lnTo>
                  <a:pt x="1540685" y="13488"/>
                </a:lnTo>
                <a:lnTo>
                  <a:pt x="1544676" y="16185"/>
                </a:lnTo>
                <a:lnTo>
                  <a:pt x="1548239" y="18883"/>
                </a:lnTo>
                <a:lnTo>
                  <a:pt x="155145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8912D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55"/>
          <p:cNvSpPr/>
          <p:nvPr/>
        </p:nvSpPr>
        <p:spPr>
          <a:xfrm>
            <a:off x="7153721" y="892076"/>
            <a:ext cx="1580559" cy="21580"/>
          </a:xfrm>
          <a:custGeom>
            <a:avLst/>
            <a:gdLst/>
            <a:ahLst/>
            <a:cxnLst/>
            <a:rect l="l" t="t" r="r" b="b"/>
            <a:pathLst>
              <a:path w="1580559" h="21580">
                <a:moveTo>
                  <a:pt x="86360" y="0"/>
                </a:moveTo>
                <a:lnTo>
                  <a:pt x="1494199" y="0"/>
                </a:lnTo>
                <a:lnTo>
                  <a:pt x="1515615" y="2698"/>
                </a:lnTo>
                <a:lnTo>
                  <a:pt x="1524245" y="5395"/>
                </a:lnTo>
                <a:lnTo>
                  <a:pt x="1530699" y="8093"/>
                </a:lnTo>
                <a:lnTo>
                  <a:pt x="1535999" y="10790"/>
                </a:lnTo>
                <a:lnTo>
                  <a:pt x="1540542" y="13488"/>
                </a:lnTo>
                <a:lnTo>
                  <a:pt x="1544534" y="16185"/>
                </a:lnTo>
                <a:lnTo>
                  <a:pt x="1548096" y="18883"/>
                </a:lnTo>
                <a:lnTo>
                  <a:pt x="155131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E8912D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0620"/>
            <a:ext cx="5767894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3"/>
              </a:lnSpc>
              <a:buNone/>
            </a:pPr>
            <a:r>
              <a:rPr lang="en-US" sz="2030" spc="11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REMOTE EXECUTION </a:t>
            </a:r>
            <a:pPr algn="l" indent="0" marL="0">
              <a:lnSpc>
                <a:spcPts val="2233"/>
              </a:lnSpc>
              <a:buNone/>
            </a:pPr>
            <a:r>
              <a:rPr lang="en-US" sz="2030" b="1" spc="110" kern="0" dirty="0">
                <a:solidFill>
                  <a:srgbClr val="E891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FIRST 30 DAYS</a:t>
            </a:r>
            <a:endParaRPr lang="en-US" sz="2030" dirty="0"/>
          </a:p>
        </p:txBody>
      </p:sp>
      <p:sp>
        <p:nvSpPr>
          <p:cNvPr id="3" name="Text 1"/>
          <p:cNvSpPr/>
          <p:nvPr/>
        </p:nvSpPr>
        <p:spPr>
          <a:xfrm>
            <a:off x="457200" y="527298"/>
            <a:ext cx="59296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spcBef>
                <a:spcPts val="340"/>
              </a:spcBef>
              <a:buNone/>
            </a:pPr>
            <a:r>
              <a:rPr lang="en-US" sz="790" spc="3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remote operations fast — equip, train, and monitor from anywhere</a:t>
            </a:r>
            <a:endParaRPr lang="en-US" sz="790" dirty="0"/>
          </a:p>
        </p:txBody>
      </p:sp>
      <p:sp>
        <p:nvSpPr>
          <p:cNvPr id="4" name="Text 2"/>
          <p:cNvSpPr/>
          <p:nvPr/>
        </p:nvSpPr>
        <p:spPr>
          <a:xfrm>
            <a:off x="4557415" y="928241"/>
            <a:ext cx="29170" cy="3714899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E8912D"/>
              </a:gs>
              <a:gs pos="100000">
                <a:srgbClr val="E8912D">
                  <a:alpha val="3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2709" y="1057870"/>
            <a:ext cx="3477220" cy="2101751"/>
          </a:xfrm>
          <a:prstGeom prst="roundRect">
            <a:avLst>
              <a:gd name="adj" fmla="val 4109"/>
            </a:avLst>
          </a:prstGeom>
          <a:solidFill>
            <a:srgbClr val="1A2940"/>
          </a:solidFill>
          <a:ln w="9525">
            <a:solidFill>
              <a:srgbClr val="E8912D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9695" y="1210866"/>
            <a:ext cx="611981" cy="294936"/>
          </a:xfrm>
          <a:prstGeom prst="roundRect">
            <a:avLst>
              <a:gd name="adj" fmla="val 9904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620" b="1" spc="8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889695" y="1668512"/>
            <a:ext cx="345757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2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Setup &amp; Onboarding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1017965" y="1950541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equipment to all new hires within 24–48 hours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017965" y="2133749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&amp; security credentials provisioned before Day 1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017965" y="2316956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workspace verification via photo/video checklist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017965" y="2500164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orientation sessions scheduled &amp; recorded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017965" y="2683371"/>
            <a:ext cx="3075279" cy="339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standups: connectivity issues, equipment status, IT provisioning, access confirmations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944070" y="2258020"/>
            <a:ext cx="3477220" cy="2140297"/>
          </a:xfrm>
          <a:prstGeom prst="roundRect">
            <a:avLst>
              <a:gd name="adj" fmla="val 4035"/>
            </a:avLst>
          </a:prstGeom>
          <a:solidFill>
            <a:srgbClr val="1A2940"/>
          </a:solidFill>
          <a:ln w="9525">
            <a:solidFill>
              <a:srgbClr val="E8912D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11055" y="2411016"/>
            <a:ext cx="611981" cy="294936"/>
          </a:xfrm>
          <a:prstGeom prst="roundRect">
            <a:avLst>
              <a:gd name="adj" fmla="val 9904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620" b="1" spc="8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5111055" y="2868662"/>
            <a:ext cx="345757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2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Training &amp; Shadowing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5239326" y="3150691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instructor-led training (VILT) sessions daily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5239326" y="3333899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Screen-share shadowing with tenured agents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5367338" y="3605957"/>
            <a:ext cx="3175665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nesting with real-time coach support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367338" y="3819079"/>
            <a:ext cx="3175665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call practice via screen-share breakout rooms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67338" y="4032200"/>
            <a:ext cx="3175665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checks &amp; certification gating before go-live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22709" y="3515320"/>
            <a:ext cx="3477220" cy="1628180"/>
          </a:xfrm>
          <a:prstGeom prst="roundRect">
            <a:avLst>
              <a:gd name="adj" fmla="val 5304"/>
            </a:avLst>
          </a:prstGeom>
          <a:solidFill>
            <a:srgbClr val="1A2940"/>
          </a:solidFill>
          <a:ln w="9525">
            <a:solidFill>
              <a:srgbClr val="E8912D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89695" y="3668316"/>
            <a:ext cx="611981" cy="294936"/>
          </a:xfrm>
          <a:prstGeom prst="roundRect">
            <a:avLst>
              <a:gd name="adj" fmla="val 9904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620" b="1" spc="8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620" dirty="0"/>
          </a:p>
        </p:txBody>
      </p:sp>
      <p:sp>
        <p:nvSpPr>
          <p:cNvPr id="23" name="Text 21"/>
          <p:cNvSpPr/>
          <p:nvPr/>
        </p:nvSpPr>
        <p:spPr>
          <a:xfrm>
            <a:off x="889695" y="4125962"/>
            <a:ext cx="345757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2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en-US" sz="101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Optimize Remotely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1017965" y="4407991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tools active (screen recording, idle alerts)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017965" y="4591199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virtual check-ins with team leads &amp; supervisors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1017965" y="4774406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performance dashboards tracking KPIs in real time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1017965" y="4957614"/>
            <a:ext cx="3316478" cy="183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at-risk agents for 1-on-1 virtual coaching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0" y="4733925"/>
            <a:ext cx="9144000" cy="409575"/>
          </a:xfrm>
          <a:prstGeom prst="rect">
            <a:avLst/>
          </a:prstGeom>
          <a:gradFill rotWithShape="1">
            <a:gsLst>
              <a:gs pos="0">
                <a:srgbClr val="E8912D">
                  <a:alpha val="12000"/>
                </a:srgbClr>
              </a:gs>
              <a:gs pos="100000">
                <a:srgbClr val="E8912D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0" y="4733925"/>
            <a:ext cx="9144000" cy="9525"/>
          </a:xfrm>
          <a:prstGeom prst="rect">
            <a:avLst/>
          </a:prstGeom>
          <a:solidFill>
            <a:srgbClr val="E8912D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9960" y="4877107"/>
            <a:ext cx="132588" cy="13258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2676376" y="4876800"/>
            <a:ext cx="43836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"Remote doesn't mean invisible — measure everything, coach constantly."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857530" y="0"/>
            <a:ext cx="1286470" cy="1286470"/>
          </a:xfrm>
          <a:prstGeom prst="rect">
            <a:avLst/>
          </a:prstGeom>
          <a:gradFill rotWithShape="1">
            <a:gsLst>
              <a:gs pos="0">
                <a:srgbClr val="E8912D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0" t="100000" r="100000" b="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0" y="3886200"/>
            <a:ext cx="857250" cy="857250"/>
          </a:xfrm>
          <a:prstGeom prst="rect">
            <a:avLst/>
          </a:prstGeom>
          <a:gradFill rotWithShape="1">
            <a:gsLst>
              <a:gs pos="0">
                <a:srgbClr val="E8912D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0" r="0" b="10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190400" y="2108745"/>
            <a:ext cx="214610" cy="13841"/>
          </a:xfrm>
          <a:prstGeom prst="rect">
            <a:avLst/>
          </a:prstGeom>
          <a:solidFill>
            <a:srgbClr val="E8912D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889695" y="2015311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889695" y="2198519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889695" y="2381726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889695" y="2564934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89695" y="2748141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38966" y="3328097"/>
            <a:ext cx="214610" cy="13841"/>
          </a:xfrm>
          <a:prstGeom prst="rect">
            <a:avLst/>
          </a:prstGeom>
          <a:solidFill>
            <a:srgbClr val="E8912D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111055" y="3215461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111055" y="3398669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190400" y="4404569"/>
            <a:ext cx="214610" cy="13841"/>
          </a:xfrm>
          <a:prstGeom prst="rect">
            <a:avLst/>
          </a:prstGeom>
          <a:solidFill>
            <a:srgbClr val="E8912D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889695" y="4472761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889695" y="4655969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889695" y="4839176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889695" y="5022384"/>
            <a:ext cx="43160" cy="43160"/>
          </a:xfrm>
          <a:prstGeom prst="ellipse">
            <a:avLst/>
          </a:prstGeom>
          <a:solidFill>
            <a:srgbClr val="E8912D">
              <a:alpha val="64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414540" y="1342281"/>
            <a:ext cx="314920" cy="314920"/>
          </a:xfrm>
          <a:prstGeom prst="ellipse">
            <a:avLst/>
          </a:prstGeom>
          <a:solidFill>
            <a:srgbClr val="E8912D"/>
          </a:solidFill>
          <a:ln/>
          <a:effectLst>
            <a:outerShdw sx="100000" sy="100000" kx="0" ky="0" algn="bl" rotWithShape="0" blurRad="143510" dist="50800" dir="16200000">
              <a:srgbClr val="e8912d">
                <a:alpha val="4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5632" y="1433373"/>
            <a:ext cx="132588" cy="13258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4414540" y="2628900"/>
            <a:ext cx="314920" cy="314920"/>
          </a:xfrm>
          <a:prstGeom prst="ellipse">
            <a:avLst/>
          </a:prstGeom>
          <a:solidFill>
            <a:srgbClr val="E8912D"/>
          </a:solidFill>
          <a:ln/>
          <a:effectLst>
            <a:outerShdw sx="100000" sy="100000" kx="0" ky="0" algn="bl" rotWithShape="0" blurRad="143510" dist="50800" dir="16200000">
              <a:srgbClr val="e8912d">
                <a:alpha val="4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5632" y="2719992"/>
            <a:ext cx="132588" cy="132588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414540" y="3829050"/>
            <a:ext cx="314920" cy="314920"/>
          </a:xfrm>
          <a:prstGeom prst="ellipse">
            <a:avLst/>
          </a:prstGeom>
          <a:solidFill>
            <a:srgbClr val="E8912D"/>
          </a:solidFill>
          <a:ln/>
          <a:effectLst>
            <a:outerShdw sx="100000" sy="100000" kx="0" ky="0" algn="bl" rotWithShape="0" blurRad="143510" dist="50800" dir="16200000">
              <a:srgbClr val="e8912d">
                <a:alpha val="4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5632" y="3920142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6041"/>
          </a:xfrm>
          <a:prstGeom prst="rect">
            <a:avLst/>
          </a:prstGeom>
          <a:gradFill rotWithShape="1">
            <a:gsLst>
              <a:gs pos="0">
                <a:srgbClr val="0F1B2D"/>
              </a:gs>
              <a:gs pos="100000">
                <a:srgbClr val="1A294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19968"/>
            <a:ext cx="150465" cy="150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1965" y="171450"/>
            <a:ext cx="388879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690" spc="6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CLEARANCE &amp; SECURITY TRACK</a:t>
            </a:r>
            <a:endParaRPr lang="en-US" sz="1690" dirty="0"/>
          </a:p>
        </p:txBody>
      </p:sp>
      <p:sp>
        <p:nvSpPr>
          <p:cNvPr id="5" name="Text 2"/>
          <p:cNvSpPr/>
          <p:nvPr/>
        </p:nvSpPr>
        <p:spPr>
          <a:xfrm>
            <a:off x="457200" y="448270"/>
            <a:ext cx="9052560" cy="114300"/>
          </a:xfrm>
          <a:prstGeom prst="rect">
            <a:avLst/>
          </a:prstGeom>
          <a:noFill/>
          <a:ln/>
        </p:spPr>
        <p:txBody>
          <a:bodyPr wrap="none" lIns="31496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840" dirty="0">
                <a:solidFill>
                  <a:srgbClr val="F0F4F8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most surge teams fail — especially with remote cleared positions.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457200" y="820341"/>
            <a:ext cx="2667000" cy="1788021"/>
          </a:xfrm>
          <a:prstGeom prst="roundRect">
            <a:avLst>
              <a:gd name="adj" fmla="val 4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" dist="7620" dir="540000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57200" y="820341"/>
            <a:ext cx="28575" cy="1788021"/>
          </a:xfrm>
          <a:custGeom>
            <a:avLst/>
            <a:gdLst/>
            <a:ahLst/>
            <a:cxnLst/>
            <a:rect l="l" t="t" r="r" b="b"/>
            <a:pathLst>
              <a:path w="28575" h="1788021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765840"/>
                </a:lnTo>
                <a:lnTo>
                  <a:pt x="25003" y="1762434"/>
                </a:lnTo>
                <a:lnTo>
                  <a:pt x="21431" y="1758602"/>
                </a:lnTo>
                <a:lnTo>
                  <a:pt x="17859" y="1754251"/>
                </a:lnTo>
                <a:lnTo>
                  <a:pt x="14288" y="1749238"/>
                </a:lnTo>
                <a:lnTo>
                  <a:pt x="10716" y="1743326"/>
                </a:lnTo>
                <a:lnTo>
                  <a:pt x="7144" y="1736053"/>
                </a:lnTo>
                <a:lnTo>
                  <a:pt x="3572" y="1726241"/>
                </a:lnTo>
                <a:lnTo>
                  <a:pt x="0" y="1701661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3916" y="96247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E8912D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008" y="1053563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5157" y="1005632"/>
            <a:ext cx="132114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spcBef>
                <a:spcPts val="560"/>
              </a:spcBef>
              <a:spcAft>
                <a:spcPts val="560"/>
              </a:spcAft>
              <a:buNone/>
            </a:pPr>
            <a:r>
              <a:rPr lang="en-US" sz="560" b="1" spc="8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560" dirty="0"/>
          </a:p>
        </p:txBody>
      </p:sp>
      <p:sp>
        <p:nvSpPr>
          <p:cNvPr id="11" name="Text 7"/>
          <p:cNvSpPr/>
          <p:nvPr/>
        </p:nvSpPr>
        <p:spPr>
          <a:xfrm>
            <a:off x="1015157" y="1162348"/>
            <a:ext cx="13211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Verify Clearance Early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13916" y="1519833"/>
            <a:ext cx="202281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spcAft>
                <a:spcPts val="280"/>
              </a:spcAft>
              <a:buNone/>
            </a:pPr>
            <a:r>
              <a:rPr lang="en-US" sz="62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RECRUITER SCREEN — NOT LATER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714246" y="1812429"/>
            <a:ext cx="1758398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level (Secret, TS, TS/SCI)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714246" y="1948755"/>
            <a:ext cx="1758398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investigation date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714246" y="2085082"/>
            <a:ext cx="1758398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inactive status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14246" y="2221409"/>
            <a:ext cx="1758398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agency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714246" y="2357735"/>
            <a:ext cx="1758398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first call — delays compound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238500" y="820341"/>
            <a:ext cx="2667000" cy="1788021"/>
          </a:xfrm>
          <a:prstGeom prst="roundRect">
            <a:avLst>
              <a:gd name="adj" fmla="val 4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" dist="7620" dir="540000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238500" y="820341"/>
            <a:ext cx="28575" cy="1788021"/>
          </a:xfrm>
          <a:custGeom>
            <a:avLst/>
            <a:gdLst/>
            <a:ahLst/>
            <a:cxnLst/>
            <a:rect l="l" t="t" r="r" b="b"/>
            <a:pathLst>
              <a:path w="28575" h="1788021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765840"/>
                </a:lnTo>
                <a:lnTo>
                  <a:pt x="25003" y="1762434"/>
                </a:lnTo>
                <a:lnTo>
                  <a:pt x="21431" y="1758602"/>
                </a:lnTo>
                <a:lnTo>
                  <a:pt x="17859" y="1754251"/>
                </a:lnTo>
                <a:lnTo>
                  <a:pt x="14288" y="1749238"/>
                </a:lnTo>
                <a:lnTo>
                  <a:pt x="10716" y="1743326"/>
                </a:lnTo>
                <a:lnTo>
                  <a:pt x="7144" y="1736053"/>
                </a:lnTo>
                <a:lnTo>
                  <a:pt x="3572" y="1726241"/>
                </a:lnTo>
                <a:lnTo>
                  <a:pt x="0" y="170166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395216" y="96247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6308" y="1053563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96457" y="1005632"/>
            <a:ext cx="103432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spcBef>
                <a:spcPts val="560"/>
              </a:spcBef>
              <a:spcAft>
                <a:spcPts val="560"/>
              </a:spcAft>
              <a:buNone/>
            </a:pPr>
            <a:r>
              <a:rPr lang="en-US" sz="560" b="1" spc="8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560" dirty="0"/>
          </a:p>
        </p:txBody>
      </p:sp>
      <p:sp>
        <p:nvSpPr>
          <p:cNvPr id="23" name="Text 18"/>
          <p:cNvSpPr/>
          <p:nvPr/>
        </p:nvSpPr>
        <p:spPr>
          <a:xfrm>
            <a:off x="3796457" y="1162348"/>
            <a:ext cx="10343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 Strategy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395216" y="1519833"/>
            <a:ext cx="139236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spcAft>
                <a:spcPts val="280"/>
              </a:spcAft>
              <a:buNone/>
            </a:pPr>
            <a:r>
              <a:rPr lang="en-US" sz="620" b="1" spc="3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TRANSFER FRICTION</a:t>
            </a:r>
            <a:endParaRPr lang="en-US" sz="620" dirty="0"/>
          </a:p>
        </p:txBody>
      </p:sp>
      <p:sp>
        <p:nvSpPr>
          <p:cNvPr id="25" name="Text 20"/>
          <p:cNvSpPr/>
          <p:nvPr/>
        </p:nvSpPr>
        <p:spPr>
          <a:xfrm>
            <a:off x="3495546" y="1812429"/>
            <a:ext cx="2147375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recently active clearances</a:t>
            </a:r>
            <a:endParaRPr lang="en-US" sz="700" dirty="0"/>
          </a:p>
        </p:txBody>
      </p:sp>
      <p:sp>
        <p:nvSpPr>
          <p:cNvPr id="26" name="Text 21"/>
          <p:cNvSpPr/>
          <p:nvPr/>
        </p:nvSpPr>
        <p:spPr>
          <a:xfrm>
            <a:off x="3495546" y="1948755"/>
            <a:ext cx="2147375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agencies with smoother reciprocity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3495546" y="2085082"/>
            <a:ext cx="2147375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dedicated FSO / security team</a:t>
            </a:r>
            <a:endParaRPr lang="en-US" sz="700" dirty="0"/>
          </a:p>
        </p:txBody>
      </p:sp>
      <p:sp>
        <p:nvSpPr>
          <p:cNvPr id="28" name="Text 23"/>
          <p:cNvSpPr/>
          <p:nvPr/>
        </p:nvSpPr>
        <p:spPr>
          <a:xfrm>
            <a:off x="3495546" y="2221409"/>
            <a:ext cx="2147375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transfer timelines daily — escalate blockers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6019800" y="820341"/>
            <a:ext cx="2667000" cy="1788021"/>
          </a:xfrm>
          <a:prstGeom prst="roundRect">
            <a:avLst>
              <a:gd name="adj" fmla="val 4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" dist="7620" dir="540000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019800" y="820341"/>
            <a:ext cx="28575" cy="1788021"/>
          </a:xfrm>
          <a:custGeom>
            <a:avLst/>
            <a:gdLst/>
            <a:ahLst/>
            <a:cxnLst/>
            <a:rect l="l" t="t" r="r" b="b"/>
            <a:pathLst>
              <a:path w="28575" h="1788021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765840"/>
                </a:lnTo>
                <a:lnTo>
                  <a:pt x="25003" y="1762434"/>
                </a:lnTo>
                <a:lnTo>
                  <a:pt x="21431" y="1758602"/>
                </a:lnTo>
                <a:lnTo>
                  <a:pt x="17859" y="1754251"/>
                </a:lnTo>
                <a:lnTo>
                  <a:pt x="14288" y="1749238"/>
                </a:lnTo>
                <a:lnTo>
                  <a:pt x="10716" y="1743326"/>
                </a:lnTo>
                <a:lnTo>
                  <a:pt x="7144" y="1736053"/>
                </a:lnTo>
                <a:lnTo>
                  <a:pt x="3572" y="1726241"/>
                </a:lnTo>
                <a:lnTo>
                  <a:pt x="0" y="170166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176516" y="962471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7608" y="1053563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577757" y="1005632"/>
            <a:ext cx="133457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spcBef>
                <a:spcPts val="560"/>
              </a:spcBef>
              <a:spcAft>
                <a:spcPts val="560"/>
              </a:spcAft>
              <a:buNone/>
            </a:pPr>
            <a:r>
              <a:rPr lang="en-US" sz="560" b="1" spc="8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560" dirty="0"/>
          </a:p>
        </p:txBody>
      </p:sp>
      <p:sp>
        <p:nvSpPr>
          <p:cNvPr id="34" name="Text 28"/>
          <p:cNvSpPr/>
          <p:nvPr/>
        </p:nvSpPr>
        <p:spPr>
          <a:xfrm>
            <a:off x="6577757" y="1162348"/>
            <a:ext cx="13345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a Cleared Bench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176516" y="1519833"/>
            <a:ext cx="141495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spcAft>
                <a:spcPts val="280"/>
              </a:spcAft>
              <a:buNone/>
            </a:pPr>
            <a:r>
              <a:rPr lang="en-US" sz="62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ALWAYS-READY TALENT POOL</a:t>
            </a:r>
            <a:endParaRPr lang="en-US" sz="620" dirty="0"/>
          </a:p>
        </p:txBody>
      </p:sp>
      <p:sp>
        <p:nvSpPr>
          <p:cNvPr id="36" name="Text 30"/>
          <p:cNvSpPr/>
          <p:nvPr/>
        </p:nvSpPr>
        <p:spPr>
          <a:xfrm>
            <a:off x="6276846" y="1812429"/>
            <a:ext cx="1977443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warm cleared candidates at all times</a:t>
            </a:r>
            <a:endParaRPr lang="en-US" sz="700" dirty="0"/>
          </a:p>
        </p:txBody>
      </p:sp>
      <p:sp>
        <p:nvSpPr>
          <p:cNvPr id="37" name="Text 31"/>
          <p:cNvSpPr/>
          <p:nvPr/>
        </p:nvSpPr>
        <p:spPr>
          <a:xfrm>
            <a:off x="6276846" y="1948755"/>
            <a:ext cx="1977443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Pre-interview top prospects quarterly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6276846" y="2085082"/>
            <a:ext cx="1977443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weekly with touchpoints &amp; updates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6276846" y="2221409"/>
            <a:ext cx="1977443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by clearance level, location, availability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457200" y="2694682"/>
            <a:ext cx="8229600" cy="1631900"/>
          </a:xfrm>
          <a:prstGeom prst="roundRect">
            <a:avLst>
              <a:gd name="adj" fmla="val 5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9210" dist="7620" dir="5400000">
              <a:srgbClr val="000000">
                <a:alpha val="6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457200" y="2694682"/>
            <a:ext cx="28575" cy="1631900"/>
          </a:xfrm>
          <a:custGeom>
            <a:avLst/>
            <a:gdLst/>
            <a:ahLst/>
            <a:cxnLst/>
            <a:rect l="l" t="t" r="r" b="b"/>
            <a:pathLst>
              <a:path w="28575" h="1631900">
                <a:moveTo>
                  <a:pt x="0" y="86360"/>
                </a:moveTo>
                <a:lnTo>
                  <a:pt x="3572" y="61780"/>
                </a:lnTo>
                <a:lnTo>
                  <a:pt x="7144" y="51968"/>
                </a:lnTo>
                <a:lnTo>
                  <a:pt x="10716" y="44695"/>
                </a:lnTo>
                <a:lnTo>
                  <a:pt x="14288" y="38783"/>
                </a:lnTo>
                <a:lnTo>
                  <a:pt x="17859" y="33770"/>
                </a:lnTo>
                <a:lnTo>
                  <a:pt x="21431" y="29419"/>
                </a:lnTo>
                <a:lnTo>
                  <a:pt x="25003" y="25587"/>
                </a:lnTo>
                <a:lnTo>
                  <a:pt x="28575" y="22181"/>
                </a:lnTo>
                <a:lnTo>
                  <a:pt x="28575" y="1609719"/>
                </a:lnTo>
                <a:lnTo>
                  <a:pt x="25003" y="1606314"/>
                </a:lnTo>
                <a:lnTo>
                  <a:pt x="21431" y="1602482"/>
                </a:lnTo>
                <a:lnTo>
                  <a:pt x="17859" y="1598130"/>
                </a:lnTo>
                <a:lnTo>
                  <a:pt x="14288" y="1593118"/>
                </a:lnTo>
                <a:lnTo>
                  <a:pt x="10716" y="1587205"/>
                </a:lnTo>
                <a:lnTo>
                  <a:pt x="7144" y="1579933"/>
                </a:lnTo>
                <a:lnTo>
                  <a:pt x="3572" y="1570120"/>
                </a:lnTo>
                <a:lnTo>
                  <a:pt x="0" y="154554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643235" y="283681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4327" y="2927905"/>
            <a:ext cx="132588" cy="13258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044476" y="2879973"/>
            <a:ext cx="238968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"/>
              </a:lnSpc>
              <a:spcBef>
                <a:spcPts val="560"/>
              </a:spcBef>
              <a:spcAft>
                <a:spcPts val="560"/>
              </a:spcAft>
              <a:buNone/>
            </a:pPr>
            <a:r>
              <a:rPr lang="en-US" sz="56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REMOTE WORK</a:t>
            </a:r>
            <a:endParaRPr lang="en-US" sz="560" dirty="0"/>
          </a:p>
        </p:txBody>
      </p:sp>
      <p:sp>
        <p:nvSpPr>
          <p:cNvPr id="45" name="Text 38"/>
          <p:cNvSpPr/>
          <p:nvPr/>
        </p:nvSpPr>
        <p:spPr>
          <a:xfrm>
            <a:off x="1044476" y="3036689"/>
            <a:ext cx="23896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B2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Remote-Specific Security Requirements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643235" y="3250555"/>
            <a:ext cx="2590502" cy="452289"/>
          </a:xfrm>
          <a:prstGeom prst="roundRect">
            <a:avLst>
              <a:gd name="adj" fmla="val 12636"/>
            </a:avLst>
          </a:prstGeom>
          <a:solidFill>
            <a:srgbClr val="8B5CF6">
              <a:alpha val="5000"/>
            </a:srgbClr>
          </a:solidFill>
          <a:ln w="9525">
            <a:solidFill>
              <a:srgbClr val="8B5CF6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0320" y="3293650"/>
            <a:ext cx="132588" cy="13258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866626" y="3309491"/>
            <a:ext cx="2332327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Provisioning</a:t>
            </a:r>
            <a:br/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Provision, configure &amp; test VPN access before Day 1. Validate split-tunnel policies.</a:t>
            </a:r>
            <a:endParaRPr lang="en-US" sz="650" dirty="0"/>
          </a:p>
        </p:txBody>
      </p:sp>
      <p:sp>
        <p:nvSpPr>
          <p:cNvPr id="49" name="Text 41"/>
          <p:cNvSpPr/>
          <p:nvPr/>
        </p:nvSpPr>
        <p:spPr>
          <a:xfrm>
            <a:off x="3290888" y="3250555"/>
            <a:ext cx="2590651" cy="452289"/>
          </a:xfrm>
          <a:prstGeom prst="roundRect">
            <a:avLst>
              <a:gd name="adj" fmla="val 12636"/>
            </a:avLst>
          </a:prstGeom>
          <a:solidFill>
            <a:srgbClr val="8B5CF6">
              <a:alpha val="5000"/>
            </a:srgbClr>
          </a:solidFill>
          <a:ln w="9525">
            <a:solidFill>
              <a:srgbClr val="8B5CF6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47972" y="3293650"/>
            <a:ext cx="132588" cy="13258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3514279" y="3309491"/>
            <a:ext cx="2332479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Security</a:t>
            </a:r>
            <a:br/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EDR, disk encryption &amp; DLP agents on all remote devices before network access.</a:t>
            </a:r>
            <a:endParaRPr lang="en-US" sz="650" dirty="0"/>
          </a:p>
        </p:txBody>
      </p:sp>
      <p:sp>
        <p:nvSpPr>
          <p:cNvPr id="52" name="Text 43"/>
          <p:cNvSpPr/>
          <p:nvPr/>
        </p:nvSpPr>
        <p:spPr>
          <a:xfrm>
            <a:off x="5938689" y="3250555"/>
            <a:ext cx="2590502" cy="452289"/>
          </a:xfrm>
          <a:prstGeom prst="roundRect">
            <a:avLst>
              <a:gd name="adj" fmla="val 12636"/>
            </a:avLst>
          </a:prstGeom>
          <a:solidFill>
            <a:srgbClr val="8B5CF6">
              <a:alpha val="5000"/>
            </a:srgbClr>
          </a:solidFill>
          <a:ln w="9525">
            <a:solidFill>
              <a:srgbClr val="8B5CF6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5773" y="3293650"/>
            <a:ext cx="132588" cy="1325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6162080" y="3309491"/>
            <a:ext cx="2332327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COMSEC / Workspace Inspection</a:t>
            </a:r>
            <a:br/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workspace inspections required for cleared roles — verify secure area &amp; COMSEC compliance.</a:t>
            </a:r>
            <a:endParaRPr lang="en-US" sz="650" dirty="0"/>
          </a:p>
        </p:txBody>
      </p:sp>
      <p:sp>
        <p:nvSpPr>
          <p:cNvPr id="55" name="Text 45"/>
          <p:cNvSpPr/>
          <p:nvPr/>
        </p:nvSpPr>
        <p:spPr>
          <a:xfrm>
            <a:off x="643235" y="3759994"/>
            <a:ext cx="2590502" cy="452289"/>
          </a:xfrm>
          <a:prstGeom prst="roundRect">
            <a:avLst>
              <a:gd name="adj" fmla="val 12636"/>
            </a:avLst>
          </a:prstGeom>
          <a:solidFill>
            <a:srgbClr val="8B5CF6">
              <a:alpha val="5000"/>
            </a:srgbClr>
          </a:solidFill>
          <a:ln w="9525">
            <a:solidFill>
              <a:srgbClr val="8B5CF6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0320" y="3803088"/>
            <a:ext cx="132588" cy="13258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866626" y="3818930"/>
            <a:ext cx="2332327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Training</a:t>
            </a:r>
            <a:br/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printing CUI at home. Mandatory training on remote handling of classified &amp; controlled data.</a:t>
            </a:r>
            <a:endParaRPr lang="en-US" sz="650" dirty="0"/>
          </a:p>
        </p:txBody>
      </p:sp>
      <p:sp>
        <p:nvSpPr>
          <p:cNvPr id="58" name="Text 47"/>
          <p:cNvSpPr/>
          <p:nvPr/>
        </p:nvSpPr>
        <p:spPr>
          <a:xfrm>
            <a:off x="3290888" y="3759994"/>
            <a:ext cx="2590651" cy="452289"/>
          </a:xfrm>
          <a:prstGeom prst="roundRect">
            <a:avLst>
              <a:gd name="adj" fmla="val 12636"/>
            </a:avLst>
          </a:prstGeom>
          <a:solidFill>
            <a:srgbClr val="8B5CF6">
              <a:alpha val="5000"/>
            </a:srgbClr>
          </a:solidFill>
          <a:ln w="9525">
            <a:solidFill>
              <a:srgbClr val="8B5CF6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47972" y="3803088"/>
            <a:ext cx="132588" cy="132588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3514279" y="3818930"/>
            <a:ext cx="2332479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Setup</a:t>
            </a:r>
            <a:br/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hardware token + biometric MFA before granting any remote system access.</a:t>
            </a:r>
            <a:endParaRPr lang="en-US" sz="650" dirty="0"/>
          </a:p>
        </p:txBody>
      </p:sp>
      <p:sp>
        <p:nvSpPr>
          <p:cNvPr id="61" name="Text 49"/>
          <p:cNvSpPr/>
          <p:nvPr/>
        </p:nvSpPr>
        <p:spPr>
          <a:xfrm>
            <a:off x="5938689" y="3759994"/>
            <a:ext cx="2590502" cy="452289"/>
          </a:xfrm>
          <a:prstGeom prst="roundRect">
            <a:avLst>
              <a:gd name="adj" fmla="val 12636"/>
            </a:avLst>
          </a:prstGeom>
          <a:solidFill>
            <a:srgbClr val="8B5CF6">
              <a:alpha val="5000"/>
            </a:srgbClr>
          </a:solidFill>
          <a:ln w="9525">
            <a:solidFill>
              <a:srgbClr val="8B5CF6">
                <a:alpha val="1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95773" y="3803088"/>
            <a:ext cx="132588" cy="132588"/>
          </a:xfrm>
          <a:prstGeom prst="rect">
            <a:avLst/>
          </a:prstGeom>
        </p:spPr>
      </p:pic>
      <p:sp>
        <p:nvSpPr>
          <p:cNvPr id="63" name="Text 50"/>
          <p:cNvSpPr/>
          <p:nvPr/>
        </p:nvSpPr>
        <p:spPr>
          <a:xfrm>
            <a:off x="6162080" y="3818930"/>
            <a:ext cx="2332327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78"/>
              </a:lnSpc>
              <a:buNone/>
            </a:pPr>
            <a:r>
              <a:rPr lang="en-US" sz="6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/ CONUS Restrictions</a:t>
            </a:r>
            <a:br/>
            <a:pPr algn="l" indent="0" marL="0">
              <a:lnSpc>
                <a:spcPts val="878"/>
              </a:lnSpc>
              <a:buNone/>
            </a:pPr>
            <a:r>
              <a:rPr lang="en-US" sz="6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CONUS-only work locations. Block OCONUS VPN &amp; verify geolocation compliance.</a:t>
            </a:r>
            <a:endParaRPr lang="en-US" sz="650" dirty="0"/>
          </a:p>
        </p:txBody>
      </p:sp>
      <p:sp>
        <p:nvSpPr>
          <p:cNvPr id="64" name="Text 51"/>
          <p:cNvSpPr/>
          <p:nvPr/>
        </p:nvSpPr>
        <p:spPr>
          <a:xfrm>
            <a:off x="457200" y="4412903"/>
            <a:ext cx="8229600" cy="557064"/>
          </a:xfrm>
          <a:prstGeom prst="roundRect">
            <a:avLst>
              <a:gd name="adj" fmla="val 12767"/>
            </a:avLst>
          </a:prstGeom>
          <a:gradFill rotWithShape="1">
            <a:gsLst>
              <a:gs pos="0">
                <a:srgbClr val="7F1D1D"/>
              </a:gs>
              <a:gs pos="50000">
                <a:srgbClr val="991B1B"/>
              </a:gs>
              <a:gs pos="100000">
                <a:srgbClr val="B91C1C"/>
              </a:gs>
            </a:gsLst>
            <a:lin ang="2700000" scaled="1"/>
          </a:gradFill>
          <a:ln/>
          <a:effectLst>
            <a:outerShdw sx="100000" sy="100000" kx="0" ky="0" algn="bl" rotWithShape="0" blurRad="86360" dist="13970" dir="5400000">
              <a:srgbClr val="b91c1c">
                <a:alpha val="2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2"/>
          <p:cNvSpPr/>
          <p:nvPr/>
        </p:nvSpPr>
        <p:spPr>
          <a:xfrm>
            <a:off x="628650" y="4555480"/>
            <a:ext cx="271760" cy="2717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98162" y="4624992"/>
            <a:ext cx="132588" cy="132588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1000720" y="4499223"/>
            <a:ext cx="82660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b="1" spc="30" kern="0" dirty="0">
                <a:solidFill>
                  <a:srgbClr val="FE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Clearance delays are the #1 cause of missed deployment windows.</a:t>
            </a:r>
            <a:endParaRPr lang="en-US" sz="790" dirty="0"/>
          </a:p>
        </p:txBody>
      </p:sp>
      <p:sp>
        <p:nvSpPr>
          <p:cNvPr id="68" name="Text 54"/>
          <p:cNvSpPr/>
          <p:nvPr/>
        </p:nvSpPr>
        <p:spPr>
          <a:xfrm>
            <a:off x="1000720" y="4635103"/>
            <a:ext cx="7664922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0"/>
              </a:lnSpc>
              <a:spcBef>
                <a:spcPts val="170"/>
              </a:spcBef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clearance on the first call — not at offer stage. Every day of delay adds 3–5 days to deployment. Remote cleared positions require additional security provisioning before any system access is granted.</a:t>
            </a:r>
            <a:endParaRPr lang="en-US" sz="700" dirty="0"/>
          </a:p>
        </p:txBody>
      </p:sp>
      <p:sp>
        <p:nvSpPr>
          <p:cNvPr id="69" name="Text 55"/>
          <p:cNvSpPr/>
          <p:nvPr/>
        </p:nvSpPr>
        <p:spPr>
          <a:xfrm>
            <a:off x="457200" y="5056287"/>
            <a:ext cx="2676227" cy="87213"/>
          </a:xfrm>
          <a:prstGeom prst="roundRect">
            <a:avLst>
              <a:gd name="adj" fmla="val 81548"/>
            </a:avLst>
          </a:prstGeom>
          <a:solidFill>
            <a:srgbClr val="0F1B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56"/>
          <p:cNvSpPr/>
          <p:nvPr/>
        </p:nvSpPr>
        <p:spPr>
          <a:xfrm>
            <a:off x="793254" y="5221337"/>
            <a:ext cx="98275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b="1" spc="3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TRANSFER</a:t>
            </a:r>
            <a:endParaRPr lang="en-US" sz="620" dirty="0"/>
          </a:p>
        </p:txBody>
      </p:sp>
      <p:sp>
        <p:nvSpPr>
          <p:cNvPr id="71" name="Text 57"/>
          <p:cNvSpPr/>
          <p:nvPr/>
        </p:nvSpPr>
        <p:spPr>
          <a:xfrm>
            <a:off x="793254" y="5450532"/>
            <a:ext cx="98275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spcBef>
                <a:spcPts val="1130"/>
              </a:spcBef>
              <a:spcAft>
                <a:spcPts val="1130"/>
              </a:spcAft>
              <a:buNone/>
            </a:pPr>
            <a:r>
              <a:rPr lang="en-US" sz="11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Weeks</a:t>
            </a:r>
            <a:endParaRPr lang="en-US" sz="1130" dirty="0"/>
          </a:p>
        </p:txBody>
      </p:sp>
      <p:sp>
        <p:nvSpPr>
          <p:cNvPr id="72" name="Text 58"/>
          <p:cNvSpPr/>
          <p:nvPr/>
        </p:nvSpPr>
        <p:spPr>
          <a:xfrm>
            <a:off x="3233738" y="5056287"/>
            <a:ext cx="2676376" cy="87213"/>
          </a:xfrm>
          <a:prstGeom prst="roundRect">
            <a:avLst>
              <a:gd name="adj" fmla="val 81548"/>
            </a:avLst>
          </a:prstGeom>
          <a:solidFill>
            <a:srgbClr val="0F1B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59"/>
          <p:cNvSpPr/>
          <p:nvPr/>
        </p:nvSpPr>
        <p:spPr>
          <a:xfrm>
            <a:off x="3569791" y="5221337"/>
            <a:ext cx="169375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b="1" spc="3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TARGET</a:t>
            </a:r>
            <a:endParaRPr lang="en-US" sz="620" dirty="0"/>
          </a:p>
        </p:txBody>
      </p:sp>
      <p:sp>
        <p:nvSpPr>
          <p:cNvPr id="74" name="Text 60"/>
          <p:cNvSpPr/>
          <p:nvPr/>
        </p:nvSpPr>
        <p:spPr>
          <a:xfrm>
            <a:off x="3569791" y="5450532"/>
            <a:ext cx="16937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spcBef>
                <a:spcPts val="1130"/>
              </a:spcBef>
              <a:spcAft>
                <a:spcPts val="1130"/>
              </a:spcAft>
              <a:buNone/>
            </a:pPr>
            <a:r>
              <a:rPr lang="en-US" sz="11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Above Headcount</a:t>
            </a:r>
            <a:endParaRPr lang="en-US" sz="1130" dirty="0"/>
          </a:p>
        </p:txBody>
      </p:sp>
      <p:sp>
        <p:nvSpPr>
          <p:cNvPr id="75" name="Text 61"/>
          <p:cNvSpPr/>
          <p:nvPr/>
        </p:nvSpPr>
        <p:spPr>
          <a:xfrm>
            <a:off x="6010424" y="5056287"/>
            <a:ext cx="2676376" cy="87213"/>
          </a:xfrm>
          <a:prstGeom prst="roundRect">
            <a:avLst>
              <a:gd name="adj" fmla="val 81548"/>
            </a:avLst>
          </a:prstGeom>
          <a:solidFill>
            <a:srgbClr val="0F1B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2"/>
          <p:cNvSpPr/>
          <p:nvPr/>
        </p:nvSpPr>
        <p:spPr>
          <a:xfrm>
            <a:off x="6346478" y="5221337"/>
            <a:ext cx="134062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0"/>
              </a:lnSpc>
              <a:spcBef>
                <a:spcPts val="620"/>
              </a:spcBef>
              <a:spcAft>
                <a:spcPts val="620"/>
              </a:spcAft>
              <a:buNone/>
            </a:pPr>
            <a:r>
              <a:rPr lang="en-US" sz="620" b="1" spc="3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</a:t>
            </a:r>
            <a:endParaRPr lang="en-US" sz="620" dirty="0"/>
          </a:p>
        </p:txBody>
      </p:sp>
      <p:sp>
        <p:nvSpPr>
          <p:cNvPr id="77" name="Text 63"/>
          <p:cNvSpPr/>
          <p:nvPr/>
        </p:nvSpPr>
        <p:spPr>
          <a:xfrm>
            <a:off x="6346478" y="5450532"/>
            <a:ext cx="134062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spcBef>
                <a:spcPts val="1130"/>
              </a:spcBef>
              <a:spcAft>
                <a:spcPts val="1130"/>
              </a:spcAft>
              <a:buNone/>
            </a:pPr>
            <a:r>
              <a:rPr lang="en-US" sz="11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— Day 0</a:t>
            </a:r>
            <a:endParaRPr lang="en-US" sz="1130" dirty="0"/>
          </a:p>
        </p:txBody>
      </p:sp>
      <p:sp>
        <p:nvSpPr>
          <p:cNvPr id="78" name="Text 64"/>
          <p:cNvSpPr/>
          <p:nvPr/>
        </p:nvSpPr>
        <p:spPr>
          <a:xfrm>
            <a:off x="613916" y="1861959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65"/>
          <p:cNvSpPr/>
          <p:nvPr/>
        </p:nvSpPr>
        <p:spPr>
          <a:xfrm>
            <a:off x="613916" y="1998285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66"/>
          <p:cNvSpPr/>
          <p:nvPr/>
        </p:nvSpPr>
        <p:spPr>
          <a:xfrm>
            <a:off x="613916" y="2134612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67"/>
          <p:cNvSpPr/>
          <p:nvPr/>
        </p:nvSpPr>
        <p:spPr>
          <a:xfrm>
            <a:off x="613916" y="2270939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68"/>
          <p:cNvSpPr/>
          <p:nvPr/>
        </p:nvSpPr>
        <p:spPr>
          <a:xfrm>
            <a:off x="613916" y="2407265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69"/>
          <p:cNvSpPr/>
          <p:nvPr/>
        </p:nvSpPr>
        <p:spPr>
          <a:xfrm>
            <a:off x="3395216" y="1861959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70"/>
          <p:cNvSpPr/>
          <p:nvPr/>
        </p:nvSpPr>
        <p:spPr>
          <a:xfrm>
            <a:off x="3395216" y="1998285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71"/>
          <p:cNvSpPr/>
          <p:nvPr/>
        </p:nvSpPr>
        <p:spPr>
          <a:xfrm>
            <a:off x="3395216" y="2134612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2"/>
          <p:cNvSpPr/>
          <p:nvPr/>
        </p:nvSpPr>
        <p:spPr>
          <a:xfrm>
            <a:off x="3395216" y="2270939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73"/>
          <p:cNvSpPr/>
          <p:nvPr/>
        </p:nvSpPr>
        <p:spPr>
          <a:xfrm>
            <a:off x="6176516" y="1861959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74"/>
          <p:cNvSpPr/>
          <p:nvPr/>
        </p:nvSpPr>
        <p:spPr>
          <a:xfrm>
            <a:off x="6176516" y="1998285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75"/>
          <p:cNvSpPr/>
          <p:nvPr/>
        </p:nvSpPr>
        <p:spPr>
          <a:xfrm>
            <a:off x="6176516" y="2134612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76"/>
          <p:cNvSpPr/>
          <p:nvPr/>
        </p:nvSpPr>
        <p:spPr>
          <a:xfrm>
            <a:off x="6176516" y="2270939"/>
            <a:ext cx="35421" cy="35421"/>
          </a:xfrm>
          <a:prstGeom prst="ellipse">
            <a:avLst/>
          </a:prstGeom>
          <a:solidFill>
            <a:srgbClr val="4A5568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E8912D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007" y="430857"/>
            <a:ext cx="139005" cy="139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5280" y="343198"/>
            <a:ext cx="4007269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40"/>
              </a:lnSpc>
              <a:buNone/>
            </a:pPr>
            <a:r>
              <a:rPr lang="en-US" sz="2140" spc="8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ONE LAUNCH PACKET</a:t>
            </a:r>
            <a:endParaRPr lang="en-US" sz="2140" dirty="0"/>
          </a:p>
        </p:txBody>
      </p:sp>
      <p:sp>
        <p:nvSpPr>
          <p:cNvPr id="5" name="Text 2"/>
          <p:cNvSpPr/>
          <p:nvPr/>
        </p:nvSpPr>
        <p:spPr>
          <a:xfrm>
            <a:off x="4775002" y="414040"/>
            <a:ext cx="1395561" cy="189905"/>
          </a:xfrm>
          <a:prstGeom prst="roundRect">
            <a:avLst>
              <a:gd name="adj" fmla="val 22738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OPERATIONS</a:t>
            </a:r>
            <a:endParaRPr lang="en-US" sz="68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2132" y="433992"/>
            <a:ext cx="132588" cy="132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3941" y="772120"/>
            <a:ext cx="872301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900"/>
              </a:spcBef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checklist your remote teams use the morning agents go live — fully virtual, zero on-site required.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13941" y="962620"/>
            <a:ext cx="457200" cy="21580"/>
          </a:xfrm>
          <a:prstGeom prst="roundRect">
            <a:avLst>
              <a:gd name="adj" fmla="val 64736"/>
            </a:avLst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00050" y="1184821"/>
            <a:ext cx="1978372" cy="3958679"/>
          </a:xfrm>
          <a:prstGeom prst="roundRect">
            <a:avLst>
              <a:gd name="adj" fmla="val 4365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71500" y="1385441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643" y="1481584"/>
            <a:ext cx="150465" cy="1504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1500" y="1950541"/>
            <a:ext cx="17990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spcBef>
                <a:spcPts val="960"/>
              </a:spcBef>
              <a:spcAft>
                <a:spcPts val="960"/>
              </a:spcAft>
              <a:buNone/>
            </a:pPr>
            <a:r>
              <a:rPr lang="en-US" sz="960" b="1" spc="3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960" dirty="0"/>
          </a:p>
        </p:txBody>
      </p:sp>
      <p:sp>
        <p:nvSpPr>
          <p:cNvPr id="13" name="Text 8"/>
          <p:cNvSpPr/>
          <p:nvPr/>
        </p:nvSpPr>
        <p:spPr>
          <a:xfrm>
            <a:off x="703808" y="2301627"/>
            <a:ext cx="1451461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delivery confirmed</a:t>
            </a:r>
            <a:endParaRPr lang="en-US" sz="79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785" y="2280502"/>
            <a:ext cx="132588" cy="132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3808" y="2486323"/>
            <a:ext cx="1120929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connection tested</a:t>
            </a:r>
            <a:endParaRPr lang="en-US" sz="79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2785" y="2465198"/>
            <a:ext cx="132588" cy="132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3808" y="2671018"/>
            <a:ext cx="1561639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desktop access verified</a:t>
            </a:r>
            <a:endParaRPr lang="en-US" sz="79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2785" y="2649894"/>
            <a:ext cx="132588" cy="132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3808" y="2855714"/>
            <a:ext cx="1457682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activated on all accounts</a:t>
            </a:r>
            <a:endParaRPr lang="en-US" sz="79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2785" y="2834589"/>
            <a:ext cx="132588" cy="132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3808" y="3040410"/>
            <a:ext cx="1533227" cy="2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troubleshooting channel open</a:t>
            </a:r>
            <a:endParaRPr lang="en-US" sz="79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2785" y="3019285"/>
            <a:ext cx="132588" cy="132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521893" y="1184821"/>
            <a:ext cx="1978372" cy="3958679"/>
          </a:xfrm>
          <a:prstGeom prst="roundRect">
            <a:avLst>
              <a:gd name="adj" fmla="val 4365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4"/>
          <p:cNvSpPr/>
          <p:nvPr/>
        </p:nvSpPr>
        <p:spPr>
          <a:xfrm>
            <a:off x="2693343" y="1385441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E8912D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789486" y="1481584"/>
            <a:ext cx="150465" cy="15046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2693343" y="1950541"/>
            <a:ext cx="17990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spcBef>
                <a:spcPts val="960"/>
              </a:spcBef>
              <a:spcAft>
                <a:spcPts val="960"/>
              </a:spcAft>
              <a:buNone/>
            </a:pPr>
            <a:r>
              <a:rPr lang="en-US" sz="960" b="1" spc="3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/ HR</a:t>
            </a:r>
            <a:endParaRPr lang="en-US" sz="960" dirty="0"/>
          </a:p>
        </p:txBody>
      </p:sp>
      <p:sp>
        <p:nvSpPr>
          <p:cNvPr id="27" name="Text 16"/>
          <p:cNvSpPr/>
          <p:nvPr/>
        </p:nvSpPr>
        <p:spPr>
          <a:xfrm>
            <a:off x="2825651" y="2301627"/>
            <a:ext cx="1516946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orientation via video call</a:t>
            </a:r>
            <a:endParaRPr lang="en-US" sz="79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64628" y="2280502"/>
            <a:ext cx="132588" cy="132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2825651" y="2486323"/>
            <a:ext cx="1145322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documents e-signed</a:t>
            </a:r>
            <a:endParaRPr lang="en-US" sz="79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664628" y="2465198"/>
            <a:ext cx="132588" cy="13258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2825651" y="2671018"/>
            <a:ext cx="1537082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I-9 remote verification complete</a:t>
            </a:r>
            <a:endParaRPr lang="en-US" sz="79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64628" y="2649894"/>
            <a:ext cx="132588" cy="13258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2825651" y="2855714"/>
            <a:ext cx="1371898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checks initiated</a:t>
            </a:r>
            <a:endParaRPr lang="en-US" sz="79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664628" y="2834589"/>
            <a:ext cx="132588" cy="13258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2825651" y="3040410"/>
            <a:ext cx="1326877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letters digitally signed</a:t>
            </a:r>
            <a:endParaRPr lang="en-US" sz="79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664628" y="3019285"/>
            <a:ext cx="132588" cy="13258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2825651" y="3225105"/>
            <a:ext cx="1533227" cy="28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enrollment confirmed online</a:t>
            </a:r>
            <a:endParaRPr lang="en-US" sz="79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664628" y="3203981"/>
            <a:ext cx="132588" cy="132588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4643735" y="1184821"/>
            <a:ext cx="1978372" cy="3958679"/>
          </a:xfrm>
          <a:prstGeom prst="roundRect">
            <a:avLst>
              <a:gd name="adj" fmla="val 4365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23"/>
          <p:cNvSpPr/>
          <p:nvPr/>
        </p:nvSpPr>
        <p:spPr>
          <a:xfrm>
            <a:off x="4815185" y="1385441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911328" y="1481584"/>
            <a:ext cx="150465" cy="150465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4815185" y="1950541"/>
            <a:ext cx="17990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spcBef>
                <a:spcPts val="960"/>
              </a:spcBef>
              <a:spcAft>
                <a:spcPts val="960"/>
              </a:spcAft>
              <a:buNone/>
            </a:pPr>
            <a:r>
              <a:rPr lang="en-US" sz="960" b="1" spc="3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60" dirty="0"/>
          </a:p>
        </p:txBody>
      </p:sp>
      <p:sp>
        <p:nvSpPr>
          <p:cNvPr id="43" name="Text 25"/>
          <p:cNvSpPr/>
          <p:nvPr/>
        </p:nvSpPr>
        <p:spPr>
          <a:xfrm>
            <a:off x="4947493" y="2301627"/>
            <a:ext cx="1541338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war room channel joined</a:t>
            </a:r>
            <a:endParaRPr lang="en-US" sz="79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786470" y="2280502"/>
            <a:ext cx="132588" cy="132588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4947493" y="2486323"/>
            <a:ext cx="1463739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tools installed</a:t>
            </a:r>
            <a:endParaRPr lang="en-US" sz="790" dirty="0"/>
          </a:p>
        </p:txBody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786470" y="2465198"/>
            <a:ext cx="132588" cy="132588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4947493" y="2671018"/>
            <a:ext cx="1531188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escalation paths active</a:t>
            </a:r>
            <a:endParaRPr lang="en-US" sz="790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786470" y="2649894"/>
            <a:ext cx="132588" cy="132588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4947493" y="2855714"/>
            <a:ext cx="1525131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virtual standup scheduled</a:t>
            </a:r>
            <a:endParaRPr lang="en-US" sz="790" dirty="0"/>
          </a:p>
        </p:txBody>
      </p:sp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786470" y="2834589"/>
            <a:ext cx="132588" cy="132588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4947493" y="3040410"/>
            <a:ext cx="1280220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dashboards live</a:t>
            </a:r>
            <a:endParaRPr lang="en-US" sz="790" dirty="0"/>
          </a:p>
        </p:txBody>
      </p:sp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786470" y="3019285"/>
            <a:ext cx="132588" cy="132588"/>
          </a:xfrm>
          <a:prstGeom prst="rect">
            <a:avLst/>
          </a:prstGeom>
        </p:spPr>
      </p:pic>
      <p:sp>
        <p:nvSpPr>
          <p:cNvPr id="53" name="Text 30"/>
          <p:cNvSpPr/>
          <p:nvPr/>
        </p:nvSpPr>
        <p:spPr>
          <a:xfrm>
            <a:off x="6765578" y="1184821"/>
            <a:ext cx="1978372" cy="3958679"/>
          </a:xfrm>
          <a:prstGeom prst="roundRect">
            <a:avLst>
              <a:gd name="adj" fmla="val 4365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31"/>
          <p:cNvSpPr/>
          <p:nvPr/>
        </p:nvSpPr>
        <p:spPr>
          <a:xfrm>
            <a:off x="6937028" y="1385441"/>
            <a:ext cx="342900" cy="342900"/>
          </a:xfrm>
          <a:prstGeom prst="roundRect">
            <a:avLst>
              <a:gd name="adj" fmla="val 20741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7033171" y="1481584"/>
            <a:ext cx="150465" cy="150465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937028" y="1950541"/>
            <a:ext cx="17990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60"/>
              </a:lnSpc>
              <a:spcBef>
                <a:spcPts val="960"/>
              </a:spcBef>
              <a:spcAft>
                <a:spcPts val="960"/>
              </a:spcAft>
              <a:buNone/>
            </a:pPr>
            <a:r>
              <a:rPr lang="en-US" sz="960" b="1" spc="3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60" dirty="0"/>
          </a:p>
        </p:txBody>
      </p:sp>
      <p:sp>
        <p:nvSpPr>
          <p:cNvPr id="57" name="Text 33"/>
          <p:cNvSpPr/>
          <p:nvPr/>
        </p:nvSpPr>
        <p:spPr>
          <a:xfrm>
            <a:off x="7069336" y="2301627"/>
            <a:ext cx="123323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VILT schedule distributed</a:t>
            </a:r>
            <a:endParaRPr lang="en-US" sz="790" dirty="0"/>
          </a:p>
        </p:txBody>
      </p:sp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908313" y="2280502"/>
            <a:ext cx="132588" cy="132588"/>
          </a:xfrm>
          <a:prstGeom prst="rect">
            <a:avLst/>
          </a:prstGeom>
        </p:spPr>
      </p:pic>
      <p:sp>
        <p:nvSpPr>
          <p:cNvPr id="59" name="Text 34"/>
          <p:cNvSpPr/>
          <p:nvPr/>
        </p:nvSpPr>
        <p:spPr>
          <a:xfrm>
            <a:off x="7069336" y="2486323"/>
            <a:ext cx="1155472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mentor assigned</a:t>
            </a:r>
            <a:endParaRPr lang="en-US" sz="790" dirty="0"/>
          </a:p>
        </p:txBody>
      </p:sp>
      <p:pic>
        <p:nvPicPr>
          <p:cNvPr id="60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908313" y="2465198"/>
            <a:ext cx="132588" cy="132588"/>
          </a:xfrm>
          <a:prstGeom prst="rect">
            <a:avLst/>
          </a:prstGeom>
        </p:spPr>
      </p:pic>
      <p:sp>
        <p:nvSpPr>
          <p:cNvPr id="61" name="Text 35"/>
          <p:cNvSpPr/>
          <p:nvPr/>
        </p:nvSpPr>
        <p:spPr>
          <a:xfrm>
            <a:off x="7069336" y="2671018"/>
            <a:ext cx="1243221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credentials provided</a:t>
            </a:r>
            <a:endParaRPr lang="en-US" sz="790" dirty="0"/>
          </a:p>
        </p:txBody>
      </p:sp>
      <p:pic>
        <p:nvPicPr>
          <p:cNvPr id="62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908313" y="2649894"/>
            <a:ext cx="132588" cy="132588"/>
          </a:xfrm>
          <a:prstGeom prst="rect">
            <a:avLst/>
          </a:prstGeom>
        </p:spPr>
      </p:pic>
      <p:sp>
        <p:nvSpPr>
          <p:cNvPr id="63" name="Text 36"/>
          <p:cNvSpPr/>
          <p:nvPr/>
        </p:nvSpPr>
        <p:spPr>
          <a:xfrm>
            <a:off x="7069336" y="2855714"/>
            <a:ext cx="1567860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spcAft>
                <a:spcPts val="390"/>
              </a:spcAft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modules completed</a:t>
            </a:r>
            <a:endParaRPr lang="en-US" sz="790" dirty="0"/>
          </a:p>
        </p:txBody>
      </p:sp>
      <p:pic>
        <p:nvPicPr>
          <p:cNvPr id="64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6908313" y="2834589"/>
            <a:ext cx="132588" cy="132588"/>
          </a:xfrm>
          <a:prstGeom prst="rect">
            <a:avLst/>
          </a:prstGeom>
        </p:spPr>
      </p:pic>
      <p:sp>
        <p:nvSpPr>
          <p:cNvPr id="65" name="Text 37"/>
          <p:cNvSpPr/>
          <p:nvPr/>
        </p:nvSpPr>
        <p:spPr>
          <a:xfrm>
            <a:off x="7069336" y="3040410"/>
            <a:ext cx="979974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7"/>
              </a:lnSpc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expectations set</a:t>
            </a:r>
            <a:endParaRPr lang="en-US" sz="790" dirty="0"/>
          </a:p>
        </p:txBody>
      </p:sp>
      <p:pic>
        <p:nvPicPr>
          <p:cNvPr id="66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908313" y="3019285"/>
            <a:ext cx="132588" cy="132588"/>
          </a:xfrm>
          <a:prstGeom prst="rect">
            <a:avLst/>
          </a:prstGeom>
        </p:spPr>
      </p:pic>
      <p:sp>
        <p:nvSpPr>
          <p:cNvPr id="67" name="Text 38"/>
          <p:cNvSpPr/>
          <p:nvPr/>
        </p:nvSpPr>
        <p:spPr>
          <a:xfrm>
            <a:off x="746968" y="5276255"/>
            <a:ext cx="475007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790"/>
              </a:lnSpc>
              <a:buNone/>
            </a:pPr>
            <a:r>
              <a:rPr lang="en-US" sz="790" dirty="0">
                <a:solidFill>
                  <a:srgbClr val="C8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must show ALL GREEN before a single remote agent takes a live call. No exceptions.</a:t>
            </a:r>
            <a:endParaRPr lang="en-US" sz="790" dirty="0"/>
          </a:p>
        </p:txBody>
      </p:sp>
      <p:sp>
        <p:nvSpPr>
          <p:cNvPr id="68" name="Text 39"/>
          <p:cNvSpPr/>
          <p:nvPr/>
        </p:nvSpPr>
        <p:spPr>
          <a:xfrm>
            <a:off x="400050" y="1184821"/>
            <a:ext cx="1978371" cy="29170"/>
          </a:xfrm>
          <a:custGeom>
            <a:avLst/>
            <a:gdLst/>
            <a:ahLst/>
            <a:cxnLst/>
            <a:rect l="l" t="t" r="r" b="b"/>
            <a:pathLst>
              <a:path w="1978371" h="29170">
                <a:moveTo>
                  <a:pt x="86360" y="0"/>
                </a:moveTo>
                <a:lnTo>
                  <a:pt x="1892011" y="0"/>
                </a:lnTo>
                <a:lnTo>
                  <a:pt x="1916840" y="3646"/>
                </a:lnTo>
                <a:lnTo>
                  <a:pt x="1926744" y="7293"/>
                </a:lnTo>
                <a:lnTo>
                  <a:pt x="1934079" y="10939"/>
                </a:lnTo>
                <a:lnTo>
                  <a:pt x="1940036" y="14585"/>
                </a:lnTo>
                <a:lnTo>
                  <a:pt x="1945082" y="18231"/>
                </a:lnTo>
                <a:lnTo>
                  <a:pt x="1949457" y="21878"/>
                </a:lnTo>
                <a:lnTo>
                  <a:pt x="1953306" y="25524"/>
                </a:lnTo>
                <a:lnTo>
                  <a:pt x="1956721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40"/>
          <p:cNvSpPr/>
          <p:nvPr/>
        </p:nvSpPr>
        <p:spPr>
          <a:xfrm>
            <a:off x="2521893" y="1184821"/>
            <a:ext cx="1978371" cy="29170"/>
          </a:xfrm>
          <a:custGeom>
            <a:avLst/>
            <a:gdLst/>
            <a:ahLst/>
            <a:cxnLst/>
            <a:rect l="l" t="t" r="r" b="b"/>
            <a:pathLst>
              <a:path w="1978371" h="29170">
                <a:moveTo>
                  <a:pt x="86360" y="0"/>
                </a:moveTo>
                <a:lnTo>
                  <a:pt x="1892011" y="0"/>
                </a:lnTo>
                <a:lnTo>
                  <a:pt x="1916840" y="3646"/>
                </a:lnTo>
                <a:lnTo>
                  <a:pt x="1926744" y="7293"/>
                </a:lnTo>
                <a:lnTo>
                  <a:pt x="1934079" y="10939"/>
                </a:lnTo>
                <a:lnTo>
                  <a:pt x="1940036" y="14585"/>
                </a:lnTo>
                <a:lnTo>
                  <a:pt x="1945082" y="18231"/>
                </a:lnTo>
                <a:lnTo>
                  <a:pt x="1949457" y="21878"/>
                </a:lnTo>
                <a:lnTo>
                  <a:pt x="1953306" y="25524"/>
                </a:lnTo>
                <a:lnTo>
                  <a:pt x="1956721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41"/>
          <p:cNvSpPr/>
          <p:nvPr/>
        </p:nvSpPr>
        <p:spPr>
          <a:xfrm>
            <a:off x="4643735" y="1184821"/>
            <a:ext cx="1978371" cy="29170"/>
          </a:xfrm>
          <a:custGeom>
            <a:avLst/>
            <a:gdLst/>
            <a:ahLst/>
            <a:cxnLst/>
            <a:rect l="l" t="t" r="r" b="b"/>
            <a:pathLst>
              <a:path w="1978371" h="29170">
                <a:moveTo>
                  <a:pt x="86360" y="0"/>
                </a:moveTo>
                <a:lnTo>
                  <a:pt x="1892011" y="0"/>
                </a:lnTo>
                <a:lnTo>
                  <a:pt x="1916840" y="3646"/>
                </a:lnTo>
                <a:lnTo>
                  <a:pt x="1926744" y="7293"/>
                </a:lnTo>
                <a:lnTo>
                  <a:pt x="1934079" y="10939"/>
                </a:lnTo>
                <a:lnTo>
                  <a:pt x="1940036" y="14585"/>
                </a:lnTo>
                <a:lnTo>
                  <a:pt x="1945082" y="18231"/>
                </a:lnTo>
                <a:lnTo>
                  <a:pt x="1949457" y="21878"/>
                </a:lnTo>
                <a:lnTo>
                  <a:pt x="1953306" y="25524"/>
                </a:lnTo>
                <a:lnTo>
                  <a:pt x="1956721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42"/>
          <p:cNvSpPr/>
          <p:nvPr/>
        </p:nvSpPr>
        <p:spPr>
          <a:xfrm>
            <a:off x="6765578" y="1184821"/>
            <a:ext cx="1978371" cy="29170"/>
          </a:xfrm>
          <a:custGeom>
            <a:avLst/>
            <a:gdLst/>
            <a:ahLst/>
            <a:cxnLst/>
            <a:rect l="l" t="t" r="r" b="b"/>
            <a:pathLst>
              <a:path w="1978371" h="29170">
                <a:moveTo>
                  <a:pt x="86360" y="0"/>
                </a:moveTo>
                <a:lnTo>
                  <a:pt x="1892011" y="0"/>
                </a:lnTo>
                <a:lnTo>
                  <a:pt x="1916840" y="3646"/>
                </a:lnTo>
                <a:lnTo>
                  <a:pt x="1926744" y="7293"/>
                </a:lnTo>
                <a:lnTo>
                  <a:pt x="1934079" y="10939"/>
                </a:lnTo>
                <a:lnTo>
                  <a:pt x="1940036" y="14585"/>
                </a:lnTo>
                <a:lnTo>
                  <a:pt x="1945082" y="18231"/>
                </a:lnTo>
                <a:lnTo>
                  <a:pt x="1949457" y="21878"/>
                </a:lnTo>
                <a:lnTo>
                  <a:pt x="1953306" y="25524"/>
                </a:lnTo>
                <a:lnTo>
                  <a:pt x="1956721" y="29170"/>
                </a:lnTo>
                <a:lnTo>
                  <a:pt x="21650" y="29170"/>
                </a:lnTo>
                <a:lnTo>
                  <a:pt x="25065" y="25524"/>
                </a:lnTo>
                <a:lnTo>
                  <a:pt x="28914" y="21878"/>
                </a:lnTo>
                <a:lnTo>
                  <a:pt x="33289" y="18231"/>
                </a:lnTo>
                <a:lnTo>
                  <a:pt x="38335" y="14585"/>
                </a:lnTo>
                <a:lnTo>
                  <a:pt x="44292" y="10939"/>
                </a:lnTo>
                <a:lnTo>
                  <a:pt x="51627" y="7293"/>
                </a:lnTo>
                <a:lnTo>
                  <a:pt x="61531" y="3646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050" y="327273"/>
            <a:ext cx="203746" cy="2037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096" y="271760"/>
            <a:ext cx="429220" cy="29170"/>
          </a:xfrm>
          <a:prstGeom prst="roundRect">
            <a:avLst>
              <a:gd name="adj" fmla="val 47892"/>
            </a:avLst>
          </a:prstGeom>
          <a:solidFill>
            <a:srgbClr val="E8912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18096" y="344091"/>
            <a:ext cx="5364523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910" b="1" spc="170" kern="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SUCCESS FORMULA — REMOTE</a:t>
            </a:r>
            <a:endParaRPr lang="en-US" sz="1910" dirty="0"/>
          </a:p>
        </p:txBody>
      </p:sp>
      <p:sp>
        <p:nvSpPr>
          <p:cNvPr id="5" name="Text 2"/>
          <p:cNvSpPr/>
          <p:nvPr/>
        </p:nvSpPr>
        <p:spPr>
          <a:xfrm>
            <a:off x="786110" y="629841"/>
            <a:ext cx="96337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0"/>
              </a:lnSpc>
              <a:spcAft>
                <a:spcPts val="1130"/>
              </a:spcAft>
              <a:buNone/>
            </a:pPr>
            <a:r>
              <a:rPr lang="en-US" sz="790" spc="3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non-negotiable principles for distributed teams that deliver from day one.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400050" y="887611"/>
            <a:ext cx="4500265" cy="818852"/>
          </a:xfrm>
          <a:prstGeom prst="roundRect">
            <a:avLst>
              <a:gd name="adj" fmla="val 5273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00050" y="887611"/>
            <a:ext cx="28575" cy="818852"/>
          </a:xfrm>
          <a:custGeom>
            <a:avLst/>
            <a:gdLst/>
            <a:ahLst/>
            <a:cxnLst/>
            <a:rect l="l" t="t" r="r" b="b"/>
            <a:pathLst>
              <a:path w="28575" h="818852">
                <a:moveTo>
                  <a:pt x="0" y="43180"/>
                </a:moveTo>
                <a:lnTo>
                  <a:pt x="3572" y="25984"/>
                </a:lnTo>
                <a:lnTo>
                  <a:pt x="7144" y="19391"/>
                </a:lnTo>
                <a:lnTo>
                  <a:pt x="10716" y="14709"/>
                </a:lnTo>
                <a:lnTo>
                  <a:pt x="14288" y="11090"/>
                </a:lnTo>
                <a:lnTo>
                  <a:pt x="17859" y="8203"/>
                </a:lnTo>
                <a:lnTo>
                  <a:pt x="21431" y="5877"/>
                </a:lnTo>
                <a:lnTo>
                  <a:pt x="25003" y="4012"/>
                </a:lnTo>
                <a:lnTo>
                  <a:pt x="28575" y="2545"/>
                </a:lnTo>
                <a:lnTo>
                  <a:pt x="28575" y="816307"/>
                </a:lnTo>
                <a:lnTo>
                  <a:pt x="25003" y="814840"/>
                </a:lnTo>
                <a:lnTo>
                  <a:pt x="21431" y="812975"/>
                </a:lnTo>
                <a:lnTo>
                  <a:pt x="17859" y="810649"/>
                </a:lnTo>
                <a:lnTo>
                  <a:pt x="14288" y="807762"/>
                </a:lnTo>
                <a:lnTo>
                  <a:pt x="10716" y="804143"/>
                </a:lnTo>
                <a:lnTo>
                  <a:pt x="7144" y="799461"/>
                </a:lnTo>
                <a:lnTo>
                  <a:pt x="3572" y="792869"/>
                </a:lnTo>
                <a:lnTo>
                  <a:pt x="0" y="775672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6085" y="1001762"/>
            <a:ext cx="257770" cy="25777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602" y="1064279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1996" y="1094482"/>
            <a:ext cx="41479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spc="7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SPEED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971996" y="1315343"/>
            <a:ext cx="384627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logistics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new critical path, not facilities · Ship laptops </a:t>
            </a:r>
            <a:pPr algn="l" indent="0" marL="0">
              <a:lnSpc>
                <a:spcPts val="1145"/>
              </a:lnSpc>
              <a:buNone/>
            </a:pP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&lt;48 hrs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post-acceptance · Pre-provision VPN, credentials &amp; tools before hardware arrives</a:t>
            </a:r>
            <a:endParaRPr lang="en-US" sz="790" dirty="0"/>
          </a:p>
        </p:txBody>
      </p:sp>
      <p:sp>
        <p:nvSpPr>
          <p:cNvPr id="12" name="Text 8"/>
          <p:cNvSpPr/>
          <p:nvPr/>
        </p:nvSpPr>
        <p:spPr>
          <a:xfrm>
            <a:off x="400050" y="1806773"/>
            <a:ext cx="4500265" cy="818852"/>
          </a:xfrm>
          <a:prstGeom prst="roundRect">
            <a:avLst>
              <a:gd name="adj" fmla="val 5273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00050" y="1806773"/>
            <a:ext cx="28575" cy="818852"/>
          </a:xfrm>
          <a:custGeom>
            <a:avLst/>
            <a:gdLst/>
            <a:ahLst/>
            <a:cxnLst/>
            <a:rect l="l" t="t" r="r" b="b"/>
            <a:pathLst>
              <a:path w="28575" h="818852">
                <a:moveTo>
                  <a:pt x="0" y="43180"/>
                </a:moveTo>
                <a:lnTo>
                  <a:pt x="3572" y="25984"/>
                </a:lnTo>
                <a:lnTo>
                  <a:pt x="7144" y="19391"/>
                </a:lnTo>
                <a:lnTo>
                  <a:pt x="10716" y="14709"/>
                </a:lnTo>
                <a:lnTo>
                  <a:pt x="14288" y="11090"/>
                </a:lnTo>
                <a:lnTo>
                  <a:pt x="17859" y="8203"/>
                </a:lnTo>
                <a:lnTo>
                  <a:pt x="21431" y="5877"/>
                </a:lnTo>
                <a:lnTo>
                  <a:pt x="25003" y="4012"/>
                </a:lnTo>
                <a:lnTo>
                  <a:pt x="28575" y="2545"/>
                </a:lnTo>
                <a:lnTo>
                  <a:pt x="28575" y="816307"/>
                </a:lnTo>
                <a:lnTo>
                  <a:pt x="25003" y="814840"/>
                </a:lnTo>
                <a:lnTo>
                  <a:pt x="21431" y="812975"/>
                </a:lnTo>
                <a:lnTo>
                  <a:pt x="17859" y="810649"/>
                </a:lnTo>
                <a:lnTo>
                  <a:pt x="14288" y="807762"/>
                </a:lnTo>
                <a:lnTo>
                  <a:pt x="10716" y="804143"/>
                </a:lnTo>
                <a:lnTo>
                  <a:pt x="7144" y="799461"/>
                </a:lnTo>
                <a:lnTo>
                  <a:pt x="3572" y="792869"/>
                </a:lnTo>
                <a:lnTo>
                  <a:pt x="0" y="775672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86085" y="1920925"/>
            <a:ext cx="257770" cy="25777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602" y="1983441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1996" y="2013645"/>
            <a:ext cx="41479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spc="7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CANDIDATE EXPERIENCE</a:t>
            </a:r>
            <a:endParaRPr lang="en-US" sz="840" dirty="0"/>
          </a:p>
        </p:txBody>
      </p:sp>
      <p:sp>
        <p:nvSpPr>
          <p:cNvPr id="17" name="Text 12"/>
          <p:cNvSpPr/>
          <p:nvPr/>
        </p:nvSpPr>
        <p:spPr>
          <a:xfrm>
            <a:off x="971996" y="2234505"/>
            <a:ext cx="384627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onboarding must feel </a:t>
            </a:r>
            <a:pPr algn="l" indent="0" marL="0">
              <a:lnSpc>
                <a:spcPts val="1145"/>
              </a:lnSpc>
              <a:buNone/>
            </a:pP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not transactional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Live video welcome from hiring manager · Personalized first-week agenda delivered before start date</a:t>
            </a:r>
            <a:endParaRPr lang="en-US" sz="790" dirty="0"/>
          </a:p>
        </p:txBody>
      </p:sp>
      <p:sp>
        <p:nvSpPr>
          <p:cNvPr id="18" name="Text 13"/>
          <p:cNvSpPr/>
          <p:nvPr/>
        </p:nvSpPr>
        <p:spPr>
          <a:xfrm>
            <a:off x="400050" y="2725936"/>
            <a:ext cx="4500265" cy="818852"/>
          </a:xfrm>
          <a:prstGeom prst="roundRect">
            <a:avLst>
              <a:gd name="adj" fmla="val 5273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00050" y="2725936"/>
            <a:ext cx="28575" cy="818852"/>
          </a:xfrm>
          <a:custGeom>
            <a:avLst/>
            <a:gdLst/>
            <a:ahLst/>
            <a:cxnLst/>
            <a:rect l="l" t="t" r="r" b="b"/>
            <a:pathLst>
              <a:path w="28575" h="818852">
                <a:moveTo>
                  <a:pt x="0" y="43180"/>
                </a:moveTo>
                <a:lnTo>
                  <a:pt x="3572" y="25984"/>
                </a:lnTo>
                <a:lnTo>
                  <a:pt x="7144" y="19391"/>
                </a:lnTo>
                <a:lnTo>
                  <a:pt x="10716" y="14709"/>
                </a:lnTo>
                <a:lnTo>
                  <a:pt x="14288" y="11090"/>
                </a:lnTo>
                <a:lnTo>
                  <a:pt x="17859" y="8203"/>
                </a:lnTo>
                <a:lnTo>
                  <a:pt x="21431" y="5877"/>
                </a:lnTo>
                <a:lnTo>
                  <a:pt x="25003" y="4012"/>
                </a:lnTo>
                <a:lnTo>
                  <a:pt x="28575" y="2545"/>
                </a:lnTo>
                <a:lnTo>
                  <a:pt x="28575" y="816307"/>
                </a:lnTo>
                <a:lnTo>
                  <a:pt x="25003" y="814840"/>
                </a:lnTo>
                <a:lnTo>
                  <a:pt x="21431" y="812975"/>
                </a:lnTo>
                <a:lnTo>
                  <a:pt x="17859" y="810649"/>
                </a:lnTo>
                <a:lnTo>
                  <a:pt x="14288" y="807762"/>
                </a:lnTo>
                <a:lnTo>
                  <a:pt x="10716" y="804143"/>
                </a:lnTo>
                <a:lnTo>
                  <a:pt x="7144" y="799461"/>
                </a:lnTo>
                <a:lnTo>
                  <a:pt x="3572" y="792869"/>
                </a:lnTo>
                <a:lnTo>
                  <a:pt x="0" y="775672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86085" y="2840087"/>
            <a:ext cx="257770" cy="25777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602" y="2902604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1996" y="2932807"/>
            <a:ext cx="41479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spc="7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COMMUNICATION INFRASTRUCTURE</a:t>
            </a:r>
            <a:endParaRPr lang="en-US" sz="840" dirty="0"/>
          </a:p>
        </p:txBody>
      </p:sp>
      <p:sp>
        <p:nvSpPr>
          <p:cNvPr id="23" name="Text 17"/>
          <p:cNvSpPr/>
          <p:nvPr/>
        </p:nvSpPr>
        <p:spPr>
          <a:xfrm>
            <a:off x="971996" y="3153668"/>
            <a:ext cx="384627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channels, </a:t>
            </a:r>
            <a:pPr algn="l" indent="0" marL="0">
              <a:lnSpc>
                <a:spcPts val="1145"/>
              </a:lnSpc>
              <a:buNone/>
            </a:pP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paths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response-time SLAs from day one · Slack/Teams for async · Clear on-call and urgent-issue protocols</a:t>
            </a:r>
            <a:endParaRPr lang="en-US" sz="790" dirty="0"/>
          </a:p>
        </p:txBody>
      </p:sp>
      <p:sp>
        <p:nvSpPr>
          <p:cNvPr id="24" name="Text 18"/>
          <p:cNvSpPr/>
          <p:nvPr/>
        </p:nvSpPr>
        <p:spPr>
          <a:xfrm>
            <a:off x="5043785" y="887611"/>
            <a:ext cx="4100215" cy="818852"/>
          </a:xfrm>
          <a:prstGeom prst="roundRect">
            <a:avLst>
              <a:gd name="adj" fmla="val 5273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5043785" y="887611"/>
            <a:ext cx="28575" cy="818852"/>
          </a:xfrm>
          <a:custGeom>
            <a:avLst/>
            <a:gdLst/>
            <a:ahLst/>
            <a:cxnLst/>
            <a:rect l="l" t="t" r="r" b="b"/>
            <a:pathLst>
              <a:path w="28575" h="818852">
                <a:moveTo>
                  <a:pt x="0" y="43180"/>
                </a:moveTo>
                <a:lnTo>
                  <a:pt x="3572" y="25984"/>
                </a:lnTo>
                <a:lnTo>
                  <a:pt x="7144" y="19391"/>
                </a:lnTo>
                <a:lnTo>
                  <a:pt x="10716" y="14709"/>
                </a:lnTo>
                <a:lnTo>
                  <a:pt x="14288" y="11090"/>
                </a:lnTo>
                <a:lnTo>
                  <a:pt x="17859" y="8203"/>
                </a:lnTo>
                <a:lnTo>
                  <a:pt x="21431" y="5877"/>
                </a:lnTo>
                <a:lnTo>
                  <a:pt x="25003" y="4012"/>
                </a:lnTo>
                <a:lnTo>
                  <a:pt x="28575" y="2545"/>
                </a:lnTo>
                <a:lnTo>
                  <a:pt x="28575" y="816307"/>
                </a:lnTo>
                <a:lnTo>
                  <a:pt x="25003" y="814840"/>
                </a:lnTo>
                <a:lnTo>
                  <a:pt x="21431" y="812975"/>
                </a:lnTo>
                <a:lnTo>
                  <a:pt x="17859" y="810649"/>
                </a:lnTo>
                <a:lnTo>
                  <a:pt x="14288" y="807762"/>
                </a:lnTo>
                <a:lnTo>
                  <a:pt x="10716" y="804143"/>
                </a:lnTo>
                <a:lnTo>
                  <a:pt x="7144" y="799461"/>
                </a:lnTo>
                <a:lnTo>
                  <a:pt x="3572" y="792869"/>
                </a:lnTo>
                <a:lnTo>
                  <a:pt x="0" y="775672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229820" y="1001762"/>
            <a:ext cx="257770" cy="25777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92337" y="1064279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15732" y="1094482"/>
            <a:ext cx="41479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spc="7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REMOTE SUPERVISION</a:t>
            </a:r>
            <a:endParaRPr lang="en-US" sz="840" dirty="0"/>
          </a:p>
        </p:txBody>
      </p:sp>
      <p:sp>
        <p:nvSpPr>
          <p:cNvPr id="29" name="Text 22"/>
          <p:cNvSpPr/>
          <p:nvPr/>
        </p:nvSpPr>
        <p:spPr>
          <a:xfrm>
            <a:off x="5615732" y="1315343"/>
            <a:ext cx="384627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spans of control: </a:t>
            </a:r>
            <a:pPr algn="l" indent="0" marL="0">
              <a:lnSpc>
                <a:spcPts val="1145"/>
              </a:lnSpc>
              <a:buNone/>
            </a:pP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reports max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Track leading indicators — login times, idle time, task completion — not just output</a:t>
            </a:r>
            <a:endParaRPr lang="en-US" sz="790" dirty="0"/>
          </a:p>
        </p:txBody>
      </p:sp>
      <p:sp>
        <p:nvSpPr>
          <p:cNvPr id="30" name="Text 23"/>
          <p:cNvSpPr/>
          <p:nvPr/>
        </p:nvSpPr>
        <p:spPr>
          <a:xfrm>
            <a:off x="5043785" y="1806773"/>
            <a:ext cx="4100215" cy="818852"/>
          </a:xfrm>
          <a:prstGeom prst="roundRect">
            <a:avLst>
              <a:gd name="adj" fmla="val 5273"/>
            </a:avLst>
          </a:prstGeom>
          <a:solidFill>
            <a:srgbClr val="1A2940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5043785" y="1806773"/>
            <a:ext cx="28575" cy="818852"/>
          </a:xfrm>
          <a:custGeom>
            <a:avLst/>
            <a:gdLst/>
            <a:ahLst/>
            <a:cxnLst/>
            <a:rect l="l" t="t" r="r" b="b"/>
            <a:pathLst>
              <a:path w="28575" h="818852">
                <a:moveTo>
                  <a:pt x="0" y="43180"/>
                </a:moveTo>
                <a:lnTo>
                  <a:pt x="3572" y="25984"/>
                </a:lnTo>
                <a:lnTo>
                  <a:pt x="7144" y="19391"/>
                </a:lnTo>
                <a:lnTo>
                  <a:pt x="10716" y="14709"/>
                </a:lnTo>
                <a:lnTo>
                  <a:pt x="14288" y="11090"/>
                </a:lnTo>
                <a:lnTo>
                  <a:pt x="17859" y="8203"/>
                </a:lnTo>
                <a:lnTo>
                  <a:pt x="21431" y="5877"/>
                </a:lnTo>
                <a:lnTo>
                  <a:pt x="25003" y="4012"/>
                </a:lnTo>
                <a:lnTo>
                  <a:pt x="28575" y="2545"/>
                </a:lnTo>
                <a:lnTo>
                  <a:pt x="28575" y="816307"/>
                </a:lnTo>
                <a:lnTo>
                  <a:pt x="25003" y="814840"/>
                </a:lnTo>
                <a:lnTo>
                  <a:pt x="21431" y="812975"/>
                </a:lnTo>
                <a:lnTo>
                  <a:pt x="17859" y="810649"/>
                </a:lnTo>
                <a:lnTo>
                  <a:pt x="14288" y="807762"/>
                </a:lnTo>
                <a:lnTo>
                  <a:pt x="10716" y="804143"/>
                </a:lnTo>
                <a:lnTo>
                  <a:pt x="7144" y="799461"/>
                </a:lnTo>
                <a:lnTo>
                  <a:pt x="3572" y="792869"/>
                </a:lnTo>
                <a:lnTo>
                  <a:pt x="0" y="775672"/>
                </a:lnTo>
                <a:close/>
              </a:path>
            </a:pathLst>
          </a:custGeom>
          <a:solidFill>
            <a:srgbClr val="E8912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5229820" y="1920925"/>
            <a:ext cx="257770" cy="257770"/>
          </a:xfrm>
          <a:prstGeom prst="ellipse">
            <a:avLst/>
          </a:prstGeom>
          <a:solidFill>
            <a:srgbClr val="E8912D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92337" y="1983441"/>
            <a:ext cx="132588" cy="1325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615732" y="2013645"/>
            <a:ext cx="41479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840"/>
              </a:spcBef>
              <a:spcAft>
                <a:spcPts val="840"/>
              </a:spcAft>
              <a:buNone/>
            </a:pPr>
            <a:r>
              <a:rPr lang="en-US" sz="840" b="1" spc="7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RETENTION</a:t>
            </a:r>
            <a:endParaRPr lang="en-US" sz="840" dirty="0"/>
          </a:p>
        </p:txBody>
      </p:sp>
      <p:sp>
        <p:nvSpPr>
          <p:cNvPr id="35" name="Text 27"/>
          <p:cNvSpPr/>
          <p:nvPr/>
        </p:nvSpPr>
        <p:spPr>
          <a:xfrm>
            <a:off x="5615732" y="2234505"/>
            <a:ext cx="3846275" cy="30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</a:t>
            </a:r>
            <a:pPr algn="l" indent="0" marL="0">
              <a:lnSpc>
                <a:spcPts val="1145"/>
              </a:lnSpc>
              <a:buNone/>
            </a:pP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program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pairs every new hire with a peer mentor · The </a:t>
            </a:r>
            <a:pPr algn="l" indent="0" marL="0">
              <a:lnSpc>
                <a:spcPts val="1145"/>
              </a:lnSpc>
              <a:buNone/>
            </a:pP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check-in</a:t>
            </a:r>
            <a:pPr algn="l" indent="0" marL="0">
              <a:lnSpc>
                <a:spcPts val="1145"/>
              </a:lnSpc>
              <a:buNone/>
            </a:pPr>
            <a:r>
              <a:rPr lang="en-US" sz="79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make-or-break for early attrition</a:t>
            </a:r>
            <a:endParaRPr lang="en-US" sz="790" dirty="0"/>
          </a:p>
        </p:txBody>
      </p:sp>
      <p:sp>
        <p:nvSpPr>
          <p:cNvPr id="36" name="Text 28"/>
          <p:cNvSpPr/>
          <p:nvPr/>
        </p:nvSpPr>
        <p:spPr>
          <a:xfrm>
            <a:off x="5043785" y="2725936"/>
            <a:ext cx="4100215" cy="2170063"/>
          </a:xfrm>
          <a:prstGeom prst="roundRect">
            <a:avLst>
              <a:gd name="adj" fmla="val 2634"/>
            </a:avLst>
          </a:prstGeom>
          <a:solidFill>
            <a:srgbClr val="E8912D">
              <a:alpha val="4000"/>
            </a:srgbClr>
          </a:solidFill>
          <a:ln w="9525">
            <a:solidFill>
              <a:srgbClr val="E8912D">
                <a:alpha val="30000"/>
              </a:srgbClr>
            </a:solidFill>
            <a:prstDash val="dash"/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18611" y="3556099"/>
            <a:ext cx="150465" cy="15046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09241" y="3787825"/>
            <a:ext cx="1569205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95"/>
              </a:lnSpc>
              <a:buNone/>
            </a:pPr>
            <a:r>
              <a:rPr lang="en-US" sz="73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→ Connect → Monitor → Retain</a:t>
            </a:r>
            <a:br/>
            <a:pPr algn="ctr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Remote-ready in 72 hours</a:t>
            </a:r>
            <a:endParaRPr lang="en-US" sz="730" dirty="0"/>
          </a:p>
        </p:txBody>
      </p:sp>
      <p:sp>
        <p:nvSpPr>
          <p:cNvPr id="39" name="Text 30"/>
          <p:cNvSpPr/>
          <p:nvPr/>
        </p:nvSpPr>
        <p:spPr>
          <a:xfrm>
            <a:off x="308610" y="5024140"/>
            <a:ext cx="9326880" cy="391120"/>
          </a:xfrm>
          <a:prstGeom prst="roundRect">
            <a:avLst>
              <a:gd name="adj" fmla="val 14612"/>
            </a:avLst>
          </a:prstGeom>
          <a:gradFill rotWithShape="1">
            <a:gsLst>
              <a:gs pos="0">
                <a:srgbClr val="E8912D"/>
              </a:gs>
              <a:gs pos="100000">
                <a:srgbClr val="D17A1A"/>
              </a:gs>
            </a:gsLst>
            <a:lin ang="2700000" scaled="1"/>
          </a:gradFill>
          <a:ln/>
        </p:spPr>
        <p:txBody>
          <a:bodyPr wrap="none" lIns="403770" tIns="100330" rIns="214630" bIns="100330" rtlCol="0" anchor="t"/>
          <a:lstStyle/>
          <a:p>
            <a:pPr algn="ctr" indent="0" marL="0">
              <a:buNone/>
            </a:pPr>
            <a:r>
              <a:rPr lang="en-US" sz="1240" b="1" spc="11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REMOTE SPEED WINS — EQUIP, CONNECT, RETAIN.</a:t>
            </a:r>
            <a:endParaRPr lang="en-US" sz="1240" dirty="0"/>
          </a:p>
        </p:txBody>
      </p:sp>
      <p:sp>
        <p:nvSpPr>
          <p:cNvPr id="40" name="Text 31"/>
          <p:cNvSpPr/>
          <p:nvPr/>
        </p:nvSpPr>
        <p:spPr>
          <a:xfrm>
            <a:off x="0" y="5501580"/>
            <a:ext cx="9944100" cy="25146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spc="8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– FOR INTERNAL USE ONLY  |  APRIL 2026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2026-04-16T21:49:48Z</dcterms:created>
  <dcterms:modified xsi:type="dcterms:W3CDTF">2026-04-16T21:49:48Z</dcterms:modified>
</cp:coreProperties>
</file>